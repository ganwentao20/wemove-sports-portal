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7e5729e2c44479" /><Relationship Type="http://schemas.openxmlformats.org/officeDocument/2006/relationships/extended-properties" Target="/docProps/app.xml" Id="R0b45569731994117" /><Relationship Type="http://schemas.openxmlformats.org/officeDocument/2006/relationships/officeDocument" Target="/ppt/presentation.xml" Id="R76d11828d48649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4f7dbb0d2249ea"/>
  </p:sldMasterIdLst>
  <p:notesMasterIdLst>
    <p:notesMasterId xmlns:r="http://schemas.openxmlformats.org/officeDocument/2006/relationships" r:id="R52e3925d441046e5"/>
  </p:notesMasterIdLst>
  <p:sldIdLst>
    <p:sldId xmlns:r="http://schemas.openxmlformats.org/officeDocument/2006/relationships" id="256" r:id="R86e7248edd064b8b"/>
    <p:sldId xmlns:r="http://schemas.openxmlformats.org/officeDocument/2006/relationships" id="257" r:id="R675df23f8fc141e7"/>
    <p:sldId xmlns:r="http://schemas.openxmlformats.org/officeDocument/2006/relationships" id="258" r:id="Rad4ffe4e46d244ce"/>
    <p:sldId xmlns:r="http://schemas.openxmlformats.org/officeDocument/2006/relationships" id="259" r:id="Rde562270f49942fc"/>
    <p:sldId xmlns:r="http://schemas.openxmlformats.org/officeDocument/2006/relationships" id="260" r:id="R15d4de1e00fb4720"/>
    <p:sldId xmlns:r="http://schemas.openxmlformats.org/officeDocument/2006/relationships" id="261" r:id="R057b713b90a0467a"/>
    <p:sldId xmlns:r="http://schemas.openxmlformats.org/officeDocument/2006/relationships" id="262" r:id="Rea6225b476cc4e7b"/>
    <p:sldId xmlns:r="http://schemas.openxmlformats.org/officeDocument/2006/relationships" id="263" r:id="R665d8e216ca544c2"/>
    <p:sldId xmlns:r="http://schemas.openxmlformats.org/officeDocument/2006/relationships" id="264" r:id="R194c81dbb8f54421"/>
    <p:sldId xmlns:r="http://schemas.openxmlformats.org/officeDocument/2006/relationships" id="265" r:id="Rc28785cf6aff4b4a"/>
    <p:sldId xmlns:r="http://schemas.openxmlformats.org/officeDocument/2006/relationships" id="266" r:id="R2e3700829f604848"/>
    <p:sldId xmlns:r="http://schemas.openxmlformats.org/officeDocument/2006/relationships" id="267" r:id="Recf3c4dcd87541ff"/>
    <p:sldId xmlns:r="http://schemas.openxmlformats.org/officeDocument/2006/relationships" id="268" r:id="R72bf7c52a96d44ec"/>
    <p:sldId xmlns:r="http://schemas.openxmlformats.org/officeDocument/2006/relationships" id="269" r:id="Ra5e4a17b8825457a"/>
    <p:sldId xmlns:r="http://schemas.openxmlformats.org/officeDocument/2006/relationships" id="270" r:id="R5b2ea5c119864cc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3f18a650844193" /><Relationship Type="http://schemas.openxmlformats.org/officeDocument/2006/relationships/slideMaster" Target="/ppt/slideMasters/slideMaster1.xml" Id="R1a4f7dbb0d2249ea" /><Relationship Type="http://schemas.openxmlformats.org/officeDocument/2006/relationships/notesMaster" Target="/ppt/notesMasters/notesMaster1.xml" Id="R52e3925d441046e5" /><Relationship Type="http://schemas.openxmlformats.org/officeDocument/2006/relationships/presProps" Target="/ppt/presProps.xml" Id="Rc49d09db939a41c8" /><Relationship Type="http://schemas.openxmlformats.org/officeDocument/2006/relationships/tableStyles" Target="/ppt/tableStyles.xml" Id="R06a2fefea1ce483c" /><Relationship Type="http://schemas.openxmlformats.org/officeDocument/2006/relationships/slide" Target="/ppt/slides/slide1.xml" Id="R86e7248edd064b8b" /><Relationship Type="http://schemas.openxmlformats.org/officeDocument/2006/relationships/slide" Target="/ppt/slides/slide2.xml" Id="R675df23f8fc141e7" /><Relationship Type="http://schemas.openxmlformats.org/officeDocument/2006/relationships/slide" Target="/ppt/slides/slide3.xml" Id="Rad4ffe4e46d244ce" /><Relationship Type="http://schemas.openxmlformats.org/officeDocument/2006/relationships/slide" Target="/ppt/slides/slide4.xml" Id="Rde562270f49942fc" /><Relationship Type="http://schemas.openxmlformats.org/officeDocument/2006/relationships/slide" Target="/ppt/slides/slide5.xml" Id="R15d4de1e00fb4720" /><Relationship Type="http://schemas.openxmlformats.org/officeDocument/2006/relationships/slide" Target="/ppt/slides/slide6.xml" Id="R057b713b90a0467a" /><Relationship Type="http://schemas.openxmlformats.org/officeDocument/2006/relationships/slide" Target="/ppt/slides/slide7.xml" Id="Rea6225b476cc4e7b" /><Relationship Type="http://schemas.openxmlformats.org/officeDocument/2006/relationships/slide" Target="/ppt/slides/slide8.xml" Id="R665d8e216ca544c2" /><Relationship Type="http://schemas.openxmlformats.org/officeDocument/2006/relationships/slide" Target="/ppt/slides/slide9.xml" Id="R194c81dbb8f54421" /><Relationship Type="http://schemas.openxmlformats.org/officeDocument/2006/relationships/slide" Target="/ppt/slides/slide10.xml" Id="Rc28785cf6aff4b4a" /><Relationship Type="http://schemas.openxmlformats.org/officeDocument/2006/relationships/slide" Target="/ppt/slides/slide11.xml" Id="R2e3700829f604848" /><Relationship Type="http://schemas.openxmlformats.org/officeDocument/2006/relationships/slide" Target="/ppt/slides/slide12.xml" Id="Recf3c4dcd87541ff" /><Relationship Type="http://schemas.openxmlformats.org/officeDocument/2006/relationships/slide" Target="/ppt/slides/slide13.xml" Id="R72bf7c52a96d44ec" /><Relationship Type="http://schemas.openxmlformats.org/officeDocument/2006/relationships/slide" Target="/ppt/slides/slide14.xml" Id="Ra5e4a17b8825457a" /><Relationship Type="http://schemas.openxmlformats.org/officeDocument/2006/relationships/slide" Target="/ppt/slides/slide15.xml" Id="R5b2ea5c119864c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f103e3c6eb43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46b24db3eb4fb6" /><Relationship Type="http://schemas.openxmlformats.org/officeDocument/2006/relationships/notesMaster" Target="/ppt/notesMasters/notesMaster1.xml" Id="R9e4835989a234e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37766865bd4f15" /><Relationship Type="http://schemas.openxmlformats.org/officeDocument/2006/relationships/notesMaster" Target="/ppt/notesMasters/notesMaster1.xml" Id="R7648476aff104c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ea7d4a351b4889" /><Relationship Type="http://schemas.openxmlformats.org/officeDocument/2006/relationships/notesMaster" Target="/ppt/notesMasters/notesMaster1.xml" Id="R6a4a0796aae24b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172d5070844074" /><Relationship Type="http://schemas.openxmlformats.org/officeDocument/2006/relationships/notesMaster" Target="/ppt/notesMasters/notesMaster1.xml" Id="R601fb4d0659344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1d10ffb8ed04cc5" /><Relationship Type="http://schemas.openxmlformats.org/officeDocument/2006/relationships/notesMaster" Target="/ppt/notesMasters/notesMaster1.xml" Id="R9f5a55e1aad3446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4792f1d03e34908" /><Relationship Type="http://schemas.openxmlformats.org/officeDocument/2006/relationships/notesMaster" Target="/ppt/notesMasters/notesMaster1.xml" Id="R46049e3c02d740a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d8aa510456f45d2" /><Relationship Type="http://schemas.openxmlformats.org/officeDocument/2006/relationships/notesMaster" Target="/ppt/notesMasters/notesMaster1.xml" Id="R557d485fdd3e489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c78690e408b4f96" /><Relationship Type="http://schemas.openxmlformats.org/officeDocument/2006/relationships/notesMaster" Target="/ppt/notesMasters/notesMaster1.xml" Id="R819a960406a2446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7020112301c4bba" /><Relationship Type="http://schemas.openxmlformats.org/officeDocument/2006/relationships/notesMaster" Target="/ppt/notesMasters/notesMaster1.xml" Id="R97dbd58d8da342b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53ba1096e314b91" /><Relationship Type="http://schemas.openxmlformats.org/officeDocument/2006/relationships/notesMaster" Target="/ppt/notesMasters/notesMaster1.xml" Id="R6d7e2e527e2a4a4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49424b8c28b4fe3" /><Relationship Type="http://schemas.openxmlformats.org/officeDocument/2006/relationships/notesMaster" Target="/ppt/notesMasters/notesMaster1.xml" Id="Rb929c448657142f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bd536c80ef446ab" /><Relationship Type="http://schemas.openxmlformats.org/officeDocument/2006/relationships/notesMaster" Target="/ppt/notesMasters/notesMaster1.xml" Id="R1ec6fde616f94db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23f6b83781c4793" /><Relationship Type="http://schemas.openxmlformats.org/officeDocument/2006/relationships/notesMaster" Target="/ppt/notesMasters/notesMaster1.xml" Id="R7dbc32598389497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8f5171ca4e44ec2" /><Relationship Type="http://schemas.openxmlformats.org/officeDocument/2006/relationships/notesMaster" Target="/ppt/notesMasters/notesMaster1.xml" Id="R6a0e74affff64a7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444a172803a4305" /><Relationship Type="http://schemas.openxmlformats.org/officeDocument/2006/relationships/notesMaster" Target="/ppt/notesMasters/notesMaster1.xml" Id="R464789e58e8646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来源：apps/web/public/images/wemove-active-play-hero.png，项目内产品场景插画，不作为实拍商品照片。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来源：docs/requirements.md v0.5，docs/operation-manual.md。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来源：docs/plans/workload-current.md。25% + 18.75% × 4 = 100%，为组长确认的课程提交工作量占比。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来源：apps/web/package.json、apps/api/package.json、infra/docker-compose.yml、docs/api/data-dictionary-review-20260908.md、.github/workflows/ci.yml。版本为当前仓库配置。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来源：docs/assets/operation-manual/figure-1.png，为2026-09-08实际本机首页截图；docs/requirements.md。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来源：docs/assets/operation-manual/figure-5.png，为实际后台商品页截图；apps/api/src/catalog、pricing、order；docs/requirements.md。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来源：docs/assets/operation-manual/figure-3.png，为实际结算页截图；docs/test-report.md 第3节与零售集成测试。DEMO支付不产生真实扣款。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来源：docs/test-report.md 第3节，apps/api/src/order/commerce.service.ts:476、595、761、1204、1341及对应集成测试。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来源：docs/assets/operation-manual/figure-4.png，为2026-09-08实际后台企业申请审核页，图中为测试申请；dealer-lifecycle和B2B集成测试。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来源：B2B服务及 b2b-flow / b2b-after-sales 集成测试，docs/requirements.md。银行转账在课程环境为人工登记，真实到账需银行接口联调。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来源：docs/assets/operation-manual/figure-6.png，为实际 CMS 截图；content-navigation、platform集成测试及CMS实现。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来源：docs/assets/operation-manual/figure-7.png，为实际SEO后台截图；auth/identity/media-lifecycle集成测试与docs/test-report.md。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来源：CI54 https://github.com/ganwentao20/wemove-sports-portal/actions/runs/34159152642 ，源码f3c074f，包含main5642da2，检出d79a2eb，mainIncluded/sourceAndCheckoutTreesMatch均为true。CI55对5ffaba8文档提交也已通过：https://github.com/ganwentao20/wemove-sports-portal/actions/runs/34187607999 。用例数量来自CI54归档，非需求覆盖率。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来源：docs/test-report.md 第4、5节，docs/evidence/report-20260908/ci51-lighthouse-summary.json、load-public.json、load-mixed.json。LCP为CI51移动模拟，每模板3次中位数；本机100虚拟用户每秒各1请求、60轮，混合场景使用同一测试账号的10个独立预登录会话。恢复验证依据CI54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来源：docs/requirements.md、docs/delivery-readiness.md、docs/test-report.md。成果对应现有功能和自动化验证，正式生产接入与长期指标需真实条件。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aec02fed234c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a9d05115db4b80" /><Relationship Type="http://schemas.openxmlformats.org/officeDocument/2006/relationships/slideLayout" Target="/ppt/slideLayouts/slideLayout1.xml" Id="R433a1edc074f41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3a1edc074f41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98b39fae0c4fef" /><Relationship Type="http://schemas.openxmlformats.org/officeDocument/2006/relationships/image" Target="/ppt/media/image.png" Id="R044ded9809b145fb" /><Relationship Type="http://schemas.openxmlformats.org/officeDocument/2006/relationships/notesSlide" Target="/ppt/notesSlides/notesSlide1.xml" Id="Raa56719c2e6a42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3c6a010d1f4013" /><Relationship Type="http://schemas.openxmlformats.org/officeDocument/2006/relationships/notesSlide" Target="/ppt/notesSlides/notesSlide2.xml" Id="Rf7975594cf964d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ae893244da4d87" /><Relationship Type="http://schemas.openxmlformats.org/officeDocument/2006/relationships/notesSlide" Target="/ppt/notesSlides/notesSlide3.xml" Id="R9db6a9c4757944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5a61ebc3f84e6b" /><Relationship Type="http://schemas.openxmlformats.org/officeDocument/2006/relationships/notesSlide" Target="/ppt/notesSlides/notesSlide4.xml" Id="R08d8716f093449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cd5f093c30460e" /><Relationship Type="http://schemas.openxmlformats.org/officeDocument/2006/relationships/image" Target="/ppt/media/image2.png" Id="R42fd7bbc731a4fe5" /><Relationship Type="http://schemas.openxmlformats.org/officeDocument/2006/relationships/notesSlide" Target="/ppt/notesSlides/notesSlide5.xml" Id="R4157a8e7d0264b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ddd73b61934627" /><Relationship Type="http://schemas.openxmlformats.org/officeDocument/2006/relationships/image" Target="/ppt/media/image3.png" Id="R17852adb56c84442" /><Relationship Type="http://schemas.openxmlformats.org/officeDocument/2006/relationships/notesSlide" Target="/ppt/notesSlides/notesSlide6.xml" Id="R27f135b656d14d8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c9cb73fe524a06" /><Relationship Type="http://schemas.openxmlformats.org/officeDocument/2006/relationships/image" Target="/ppt/media/image4.png" Id="Rf56aa85d18a04c96" /><Relationship Type="http://schemas.openxmlformats.org/officeDocument/2006/relationships/notesSlide" Target="/ppt/notesSlides/notesSlide7.xml" Id="Rfccf9748fc4141a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c63518441347e0" /><Relationship Type="http://schemas.openxmlformats.org/officeDocument/2006/relationships/notesSlide" Target="/ppt/notesSlides/notesSlide8.xml" Id="Rc378592dcbd64a0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e687162014475c" /><Relationship Type="http://schemas.openxmlformats.org/officeDocument/2006/relationships/image" Target="/ppt/media/image5.png" Id="R2a6c9a6324c74e45" /><Relationship Type="http://schemas.openxmlformats.org/officeDocument/2006/relationships/notesSlide" Target="/ppt/notesSlides/notesSlide9.xml" Id="R8b18ac4fd6cb425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78e3b7670e47ce" /><Relationship Type="http://schemas.openxmlformats.org/officeDocument/2006/relationships/notesSlide" Target="/ppt/notesSlides/notesSlide10.xml" Id="R80a2d56fdce84d4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203c363286456a" /><Relationship Type="http://schemas.openxmlformats.org/officeDocument/2006/relationships/image" Target="/ppt/media/image6.png" Id="Rd49f7185da7b4bfd" /><Relationship Type="http://schemas.openxmlformats.org/officeDocument/2006/relationships/notesSlide" Target="/ppt/notesSlides/notesSlide11.xml" Id="R8a242ff1783042c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847b371d1a4f33" /><Relationship Type="http://schemas.openxmlformats.org/officeDocument/2006/relationships/image" Target="/ppt/media/image7.png" Id="Rb64238f4db524591" /><Relationship Type="http://schemas.openxmlformats.org/officeDocument/2006/relationships/notesSlide" Target="/ppt/notesSlides/notesSlide12.xml" Id="R78851cc8da8343d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68974efaad4c80" /><Relationship Type="http://schemas.openxmlformats.org/officeDocument/2006/relationships/notesSlide" Target="/ppt/notesSlides/notesSlide13.xml" Id="R36735b8e515b41f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3f62c3c66a4a2d" /><Relationship Type="http://schemas.openxmlformats.org/officeDocument/2006/relationships/notesSlide" Target="/ppt/notesSlides/notesSlide14.xml" Id="R2d434021bb21484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e73c6ee82f4fe2" /><Relationship Type="http://schemas.openxmlformats.org/officeDocument/2006/relationships/notesSlide" Target="/ppt/notesSlides/notesSlide15.xml" Id="R86f0597765bb4f3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28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4ded9809b145fb"/>
          <a:srcRect xmlns:a="http://schemas.openxmlformats.org/drawingml/2006/main" l="19630" t="0" r="196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943600" y="0"/>
            <a:ext cx="62484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E7CFDD-F24C-45CE-AA66-E38FDA136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5619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WEMOVE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8C3013-3332-4398-8E43-3F1DE25A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66925"/>
            <a:ext cx="5238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原网站重构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49DF85-560C-4339-9A6C-9B40D9A9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343275"/>
            <a:ext cx="5048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F2F5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F2F5F6"/>
                </a:solidFill>
                <a:latin typeface="Microsoft YaHei"/>
                <a:ea typeface="Microsoft YaHei"/>
                <a:cs typeface="Microsoft YaHei"/>
              </a:rPr>
              <a:t>原站前端与业务能力完善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34B38A-7A47-4EC5-BC2B-788F4B7D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53390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C4CF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4CFD4"/>
                </a:solidFill>
                <a:latin typeface="Microsoft YaHei"/>
                <a:ea typeface="Microsoft YaHei"/>
                <a:cs typeface="Microsoft YaHei"/>
              </a:rPr>
              <a:t>软件开发实践 2 项目汇报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21445E-4212-4DD2-94D8-CA019862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048250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C4CF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4CFD4"/>
                </a:solidFill>
                <a:latin typeface="Microsoft YaHei"/>
                <a:ea typeface="Microsoft YaHei"/>
                <a:cs typeface="Microsoft YaHei"/>
              </a:rPr>
              <a:t>下午班第 8 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2E1518-28EC-4928-A34A-4519ED34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762625"/>
            <a:ext cx="4953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E5E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5EAED"/>
                </a:solidFill>
                <a:latin typeface="Microsoft YaHei"/>
                <a:ea typeface="Microsoft YaHei"/>
                <a:cs typeface="Microsoft YaHei"/>
              </a:rPr>
              <a:t>甘文韬  陈婧琳  周慧莹</a:t>
            </a:r>
          </a:p>
          <a:p xmlns:a="http://schemas.openxmlformats.org/drawingml/2006/main">
            <a:pPr>
              <a:buNone/>
              <a:defRPr sz="1650" b="0">
                <a:solidFill>
                  <a:srgbClr val="E5E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5EAED"/>
                </a:solidFill>
                <a:latin typeface="Microsoft YaHei"/>
                <a:ea typeface="Microsoft YaHei"/>
                <a:cs typeface="Microsoft YaHei"/>
              </a:rPr>
              <a:t>倪依玲  龙祖怡</a:t>
            </a:r>
          </a:p>
        </p:txBody>
      </p:sp>
    </p:spTree>
    <p:extLst>
      <p:ext uri="{BB962C8B-B14F-4D97-AF65-F5344CB8AC3E}">
        <p14:creationId xmlns:p14="http://schemas.microsoft.com/office/powerpoint/2010/main" val="5450511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CA725C-BA2F-49B2-85CE-7E247A55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项目定位与功能范围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9F2B80-E070-4762-B3E3-9064C2A3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335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rPr>
              <a:t>以原网站前端和原图为基础，补齐个人购买、企业采购与运营能力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E9CED4-29DE-4DFA-A815-E9E94BAFF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33625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公众访客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D11D88-0E38-46B0-AFA8-86C9E10F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0350"/>
            <a:ext cx="5143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沿用原站品牌、栏目、图片与内容结构</a:t>
            </a:r>
          </a:p>
          <a:p xmlns:a="http://schemas.openxmlformats.org/drawingml/2006/main">
            <a:pPr>
              <a:buNone/>
              <a:defRPr sz="195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浏览原木滚珠轨道、文章和支持资料</a:t>
            </a:r>
          </a:p>
          <a:p xmlns:a="http://schemas.openxmlformats.org/drawingml/2006/main">
            <a:pPr>
              <a:buNone/>
              <a:defRPr sz="195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通过联系表单提交咨询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0660FF-6AFB-4EE0-9CCA-2FB03DDB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333625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消费者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F097C8-6F1D-4D6C-9586-27F40BCA9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800350"/>
            <a:ext cx="5143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注册、邮箱验证与收货地址管理</a:t>
            </a:r>
          </a:p>
          <a:p xmlns:a="http://schemas.openxmlformats.org/drawingml/2006/main">
            <a:pPr>
              <a:buNone/>
              <a:defRPr sz="195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购物车结算、付款和订单查询</a:t>
            </a:r>
          </a:p>
          <a:p xmlns:a="http://schemas.openxmlformats.org/drawingml/2006/main">
            <a:pPr>
              <a:buNone/>
              <a:defRPr sz="195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查看物流、下载凭证及申请售后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9FAECD-7609-477D-A817-95F045CC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33875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企业采购员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936E6A-052F-4704-9E4A-1EA6EDC7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00600"/>
            <a:ext cx="5143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企业准入、授权目录和专属价格</a:t>
            </a:r>
          </a:p>
          <a:p xmlns:a="http://schemas.openxmlformats.org/drawingml/2006/main">
            <a:pPr>
              <a:buNone/>
              <a:defRPr sz="195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SKU 批量录入、询价和报价确认</a:t>
            </a:r>
          </a:p>
          <a:p xmlns:a="http://schemas.openxmlformats.org/drawingml/2006/main">
            <a:pPr>
              <a:buNone/>
              <a:defRPr sz="195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采购单、收款、分批履约与复购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E684AD-4098-49F8-9F80-2CF24C19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333875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运营人员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44DB00-D1B4-4A1F-B602-1A311F25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800600"/>
            <a:ext cx="5143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维护商品、价格、库存和页面内容</a:t>
            </a:r>
          </a:p>
          <a:p xmlns:a="http://schemas.openxmlformats.org/drawingml/2006/main">
            <a:pPr>
              <a:buNone/>
              <a:defRPr sz="195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管理媒体、客服工单及企业申请</a:t>
            </a:r>
          </a:p>
          <a:p xmlns:a="http://schemas.openxmlformats.org/drawingml/2006/main">
            <a:pPr>
              <a:buNone/>
              <a:defRPr sz="195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按岗位权限操作并保留审计记录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F5C261-82F8-427B-9658-0140F8FC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301270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F38EA7-E990-45B7-B998-B3C78455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成员分工与工作量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71500" y="1524000"/>
          <a:ext xmlns:a="http://schemas.openxmlformats.org/drawingml/2006/main" cx="110490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7667625"/>
                <a:gridCol w="1762125"/>
              </a:tblGrid>
              <a:tr h="5715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成员</a:t>
                      </a:r>
                    </a:p>
                  </a:txBody>
                  <a:tcPr marL="91440" marR="91440" marT="45720" marB="45720">
                    <a:solidFill>
                      <a:srgbClr val="18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职责范围</a:t>
                      </a:r>
                    </a:p>
                  </a:txBody>
                  <a:tcPr marL="91440" marR="91440" marT="45720" marB="45720">
                    <a:solidFill>
                      <a:srgbClr val="18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工作量占比</a:t>
                      </a:r>
                    </a:p>
                  </a:txBody>
                  <a:tcPr marL="91440" marR="91440" marT="45720" marB="45720">
                    <a:solidFill>
                      <a:srgbClr val="18283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甘文韬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架构、安全与项目整合，兼任 B2B 采购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陈婧琳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官网、响应式页面与消费者中心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18.75%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周慧莹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商品、库存、定价与零售订单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18.75%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倪依玲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运营后台、CMS、媒体与联系工单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18.75%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龙祖怡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工程化、自动化测试与性能报告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18.75%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五人团队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FE12F3-6492-4DB4-AF38-6C2176F9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57875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rPr>
              <a:t>工作量占比按组长确认的分配填写，合计 100%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392A1E-5AED-48D3-B71A-2B0CE8B8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118892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1FED87-F6C4-4F15-9F83-E3062A5CF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系统架构与技术实现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90550" y="1447800"/>
          <a:ext xmlns:a="http://schemas.openxmlformats.org/drawingml/2006/main" cx="1102995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66875"/>
                <a:gridCol w="3381375"/>
                <a:gridCol w="5981700"/>
              </a:tblGrid>
              <a:tr h="7810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层次</a:t>
                      </a:r>
                    </a:p>
                  </a:txBody>
                  <a:tcPr marL="91440" marR="91440" marT="45720" marB="45720">
                    <a:solidFill>
                      <a:srgbClr val="18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主要技术</a:t>
                      </a:r>
                    </a:p>
                  </a:txBody>
                  <a:tcPr marL="91440" marR="91440" marT="45720" marB="45720">
                    <a:solidFill>
                      <a:srgbClr val="18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承担职责</a:t>
                      </a:r>
                    </a:p>
                  </a:txBody>
                  <a:tcPr marL="91440" marR="91440" marT="45720" marB="45720">
                    <a:solidFill>
                      <a:srgbClr val="182832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页面与交互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Next.js 16、React 19</a:t>
                      </a:r>
                    </a:p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TypeScript、Tailwind CSS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官网、消费者、企业和后台四组页面</a:t>
                      </a:r>
                    </a:p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共享组件、响应式布局与多语言展示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业务接口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NestJS 12</a:t>
                      </a:r>
                    </a:p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REST API /api/v1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身份、目录、定价、订单、采购和内容模块</a:t>
                      </a:r>
                    </a:p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输入校验、权限检查与业务状态处理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数据存储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Prisma 6、PostgreSQL 16</a:t>
                      </a:r>
                    </a:p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Redis 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关系数据、交易快照和业务事务</a:t>
                      </a:r>
                    </a:p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会话、缓存与请求频率控制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运行与验证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Docker、Mailpit</a:t>
                      </a:r>
                    </a:p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GitHub Actions、Playwright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可重复的构建与部署环境</a:t>
                      </a:r>
                    </a:p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邮件集成、浏览器验收及恢复演练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537021-CB73-4F9D-BA03-776CA4A2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695950"/>
            <a:ext cx="10810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数据字典：61 个业务模型、768 个字段、15 个枚举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E44E40-9C59-4F20-B180-06A8FFFB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47521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49E66C-AC04-445E-9CFE-F36030B8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原网站前端、内容与商品发现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fd7bbc731a4fe5"/>
          <a:stretch xmlns:a="http://schemas.openxmlformats.org/drawingml/2006/main"/>
        </p:blipFill>
        <p:spPr>
          <a:xfrm xmlns:a="http://schemas.openxmlformats.org/drawingml/2006/main" flipH="0" flipV="0">
            <a:off x="514350" y="1438870"/>
            <a:ext cx="7419975" cy="4637484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27F4C0-051C-41A6-8C2B-D00933C0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476375"/>
            <a:ext cx="331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公开内容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4CDBCC-71C8-4F2B-9414-5487D1B1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43100"/>
            <a:ext cx="33147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中英文与市场选择完整覆盖</a:t>
            </a:r>
          </a:p>
          <a:p xmlns:a="http://schemas.openxmlformats.org/drawingml/2006/main">
            <a:pPr>
              <a:buNone/>
              <a:def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原站导航、首页模块和文章</a:t>
            </a:r>
          </a:p>
          <a:p xmlns:a="http://schemas.openxmlformats.org/drawingml/2006/main">
            <a:pPr>
              <a:buNone/>
              <a:def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显示顺序与发布状态由 CMS 管理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79022A-FF2E-4FAE-BB14-40FF7196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05150"/>
            <a:ext cx="331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商品发现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A9C6F4-8690-4237-8DA5-02BFACC0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571875"/>
            <a:ext cx="33147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七款原站商品与原站图片</a:t>
            </a:r>
          </a:p>
          <a:p xmlns:a="http://schemas.openxmlformats.org/drawingml/2006/main">
            <a:pPr>
              <a:buNone/>
              <a:def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分类、搜索、筛选和规格详情</a:t>
            </a:r>
          </a:p>
          <a:p xmlns:a="http://schemas.openxmlformats.org/drawingml/2006/main">
            <a:pPr>
              <a:buNone/>
              <a:def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按语言与市场显示可购信息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3662E7-3A3B-466F-A2B8-81915C4C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733925"/>
            <a:ext cx="331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页面体验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7212E2-604D-4DB2-9E48-A0CC98A7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200650"/>
            <a:ext cx="33147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保留原站交错图文与留白风格</a:t>
            </a:r>
          </a:p>
          <a:p xmlns:a="http://schemas.openxmlformats.org/drawingml/2006/main">
            <a:pPr>
              <a:buNone/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手机导航、键盘访问与减弱动效</a:t>
            </a:r>
          </a:p>
          <a:p xmlns:a="http://schemas.openxmlformats.org/drawingml/2006/main">
            <a:pPr>
              <a:buNone/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FAQ、说明书下载和联系入口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A5BF55-F9ED-4CE9-A100-CFDF6BCE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300194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89AD07-1598-4B5D-988F-5900170F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原站商品、价格与库存管理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852adb56c84442"/>
          <a:stretch xmlns:a="http://schemas.openxmlformats.org/drawingml/2006/main"/>
        </p:blipFill>
        <p:spPr>
          <a:xfrm xmlns:a="http://schemas.openxmlformats.org/drawingml/2006/main" flipH="0" flipV="0">
            <a:off x="533400" y="1487686"/>
            <a:ext cx="7400925" cy="4625578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233E19-A9BB-4CD9-BCBC-3C8DC0827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524000"/>
            <a:ext cx="331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商品与 SKU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D467D8-C337-4D20-8839-BE3C6185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90725"/>
            <a:ext cx="33147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管理上下架、分类和规格</a:t>
            </a:r>
          </a:p>
          <a:p xmlns:a="http://schemas.openxmlformats.org/drawingml/2006/main">
            <a:pPr>
              <a:buNone/>
              <a:def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维护产品说明与适用信息</a:t>
            </a:r>
          </a:p>
          <a:p xmlns:a="http://schemas.openxmlformats.org/drawingml/2006/main">
            <a:pPr>
              <a:buNone/>
              <a:def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按 SKU 定价和记录库存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3A0FF3-2CF8-47C0-A62A-95DD1A6E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52775"/>
            <a:ext cx="331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市场与企业价格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4BCEB5-CBF5-492C-B1B8-47E9F25B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19500"/>
            <a:ext cx="33147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区分零售价和企业采购价</a:t>
            </a:r>
          </a:p>
          <a:p xmlns:a="http://schemas.openxmlformats.org/drawingml/2006/main">
            <a:pPr>
              <a:buNone/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按市场、价目表匹配规则</a:t>
            </a:r>
          </a:p>
          <a:p xmlns:a="http://schemas.openxmlformats.org/drawingml/2006/main">
            <a:pPr>
              <a:buNone/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当前身份决定价格可见范围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9DFC37-12A1-4C65-98D4-8B77E086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781550"/>
            <a:ext cx="331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交易库存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ACA413-1418-4AF3-8583-D9A1A063B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248275"/>
            <a:ext cx="33147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区分可用量与预留量</a:t>
            </a:r>
          </a:p>
          <a:p xmlns:a="http://schemas.openxmlformats.org/drawingml/2006/main">
            <a:pPr>
              <a:buNone/>
              <a:def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创建订单时检查库存</a:t>
            </a:r>
          </a:p>
          <a:p xmlns:a="http://schemas.openxmlformats.org/drawingml/2006/main">
            <a:pPr>
              <a:buNone/>
              <a:def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取消、履约按状态处理数量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5524C7-1FC7-45AE-ADF6-5CF14A65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258016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DEE588-66D3-4134-958E-7A107D7A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消费者选购与订单服务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CA00B3-2275-49D4-B163-54629C03A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0200"/>
            <a:ext cx="338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统一账户入口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12C6CB-D595-4AD6-B810-D088E19A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66925"/>
            <a:ext cx="338137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统一入口 /login</a:t>
            </a:r>
          </a:p>
          <a:p xmlns:a="http://schemas.openxmlformats.org/drawingml/2006/main">
            <a:pPr>
              <a:buNone/>
              <a:def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三类账号按身份自动分流</a:t>
            </a:r>
          </a:p>
          <a:p xmlns:a="http://schemas.openxmlformats.org/drawingml/2006/main">
            <a:pPr>
              <a:buNone/>
              <a:def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统一密码 Demo1234（演示）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626123-4E23-44D6-A38A-6A020C79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28975"/>
            <a:ext cx="338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结算与付款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ADAC43-1C3B-4D1C-A8EA-C0EBEB37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95700"/>
            <a:ext cx="338137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重新核对价格、库存和税运</a:t>
            </a:r>
          </a:p>
          <a:p xmlns:a="http://schemas.openxmlformats.org/drawingml/2006/main">
            <a:pPr>
              <a:buNone/>
              <a:def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保存收货地址及商品快照</a:t>
            </a:r>
          </a:p>
          <a:p xmlns:a="http://schemas.openxmlformats.org/drawingml/2006/main">
            <a:pPr>
              <a:buNone/>
              <a:def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演示支付与付款状态查询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BA9435-8F50-4298-A998-C825A8A5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0"/>
            <a:ext cx="338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订单与售后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C6391D-A6BB-4FA7-9CBC-CBC098CE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24475"/>
            <a:ext cx="338137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订单列表、物流和 PDF 凭证</a:t>
            </a:r>
          </a:p>
          <a:p xmlns:a="http://schemas.openxmlformats.org/drawingml/2006/main">
            <a:pPr>
              <a:buNone/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退货、换货及退款记录</a:t>
            </a:r>
          </a:p>
          <a:p xmlns:a="http://schemas.openxmlformats.org/drawingml/2006/main">
            <a:pPr>
              <a:buNone/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售后附件按订单归属授权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6aa85d18a04c96"/>
          <a:stretch xmlns:a="http://schemas.openxmlformats.org/drawingml/2006/main"/>
        </p:blipFill>
        <p:spPr>
          <a:xfrm xmlns:a="http://schemas.openxmlformats.org/drawingml/2006/main" flipH="0" flipV="0">
            <a:off x="4267200" y="1506141"/>
            <a:ext cx="7372350" cy="4607719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36167E-4750-42DD-BAD6-C21B6AED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447682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F87848-D4CE-49D7-A6C5-6DFA58B1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订单一致性与异常处理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90550" y="1457325"/>
          <a:ext xmlns:a="http://schemas.openxmlformats.org/drawingml/2006/main" cx="11029950" cy="4457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905375"/>
                <a:gridCol w="3838575"/>
              </a:tblGrid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业务场景</a:t>
                      </a:r>
                    </a:p>
                  </a:txBody>
                  <a:tcPr marL="91440" marR="91440" marT="45720" marB="45720">
                    <a:solidFill>
                      <a:srgbClr val="18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服务端处理</a:t>
                      </a:r>
                    </a:p>
                  </a:txBody>
                  <a:tcPr marL="91440" marR="91440" marT="45720" marB="45720">
                    <a:solidFill>
                      <a:srgbClr val="18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用户可见结果</a:t>
                      </a:r>
                    </a:p>
                  </a:txBody>
                  <a:tcPr marL="91440" marR="91440" marT="45720" marB="45720">
                    <a:solidFill>
                      <a:srgbClr val="182832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价格或库存变化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结算重新核对当前价格和可用库存</a:t>
                      </a:r>
                    </a:p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保存确认时的商品、金额和地址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按当前价格形成订单金额</a:t>
                      </a:r>
                    </a:p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库存不足返回明确原因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重复点击或回调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校验身份、币种、金额与当前状态</a:t>
                      </a:r>
                    </a:p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用幂等和事务约束重复处理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避免重复建单、重复付款入账</a:t>
                      </a:r>
                    </a:p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以及重复扣减库存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取消后付款成功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识别库存释放后的迟到支付回调</a:t>
                      </a:r>
                    </a:p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创建补偿退款并保持原幂等身份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已取消订单不继续发货</a:t>
                      </a:r>
                    </a:p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退款过程有记录并可重试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退货与退款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检查已发货量、收货状态和可退金额</a:t>
                      </a:r>
                    </a:p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记录退款原因及关联申请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保留物流、售后和退款历史</a:t>
                      </a:r>
                    </a:p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限制超数量或超金额操作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访问私有资料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校验订单、企业或售后申请归属</a:t>
                      </a:r>
                    </a:p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私有资源在授权后提供下载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越权请求拒绝</a:t>
                      </a:r>
                    </a:p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本人可查看凭证及售后附件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F5E086-AFA7-407F-B685-1EC00637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rPr>
              <a:t>测试同时覆盖成功路径、重复请求和越权访问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1C896A-2569-4AE5-A25A-343AFF17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65733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AD770C-C8DA-4403-B236-C5EAB017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企业准入与采购权限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6c9a6324c74e45"/>
          <a:stretch xmlns:a="http://schemas.openxmlformats.org/drawingml/2006/main"/>
        </p:blipFill>
        <p:spPr>
          <a:xfrm xmlns:a="http://schemas.openxmlformats.org/drawingml/2006/main">
            <a:off x="561975" y="1439466"/>
            <a:ext cx="7372350" cy="460771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AFB661-BCEC-460F-8AFA-F6002F93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504950"/>
            <a:ext cx="331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企业准入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3151C1-F78C-4C35-BF7F-72BD2C59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71675"/>
            <a:ext cx="33147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提交企业资料与资质附件</a:t>
            </a:r>
          </a:p>
          <a:p xmlns:a="http://schemas.openxmlformats.org/drawingml/2006/main">
            <a:pPr>
              <a:buNone/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审核通过、拒绝或要求补充</a:t>
            </a:r>
          </a:p>
          <a:p xmlns:a="http://schemas.openxmlformats.org/drawingml/2006/main">
            <a:pPr>
              <a:buNone/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企业状态与条款共同约束访问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C91F40-CAE8-4D02-9647-95A70F1C5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52775"/>
            <a:ext cx="331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复用成员与采购权限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95D164-8311-4FFC-9720-A47B4CCD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19500"/>
            <a:ext cx="33147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按当前成员身份和角色授权</a:t>
            </a:r>
          </a:p>
          <a:p xmlns:a="http://schemas.openxmlformats.org/drawingml/2006/main">
            <a:pPr>
              <a:buNone/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目录、价目表及商品访问隔离</a:t>
            </a:r>
          </a:p>
          <a:p xmlns:a="http://schemas.openxmlformats.org/drawingml/2006/main">
            <a:pPr>
              <a:buNone/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停用或撤权后重新核验权限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D6F9C9-F5B9-4233-AF5C-8C882741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00600"/>
            <a:ext cx="331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批量采购入口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DB41DC-9AB6-4EE0-A01B-11E2395F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267325"/>
            <a:ext cx="33147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SKU 文本录入与 CSV 导入</a:t>
            </a:r>
          </a:p>
          <a:p xmlns:a="http://schemas.openxmlformats.org/drawingml/2006/main">
            <a:pPr>
              <a:buNone/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逐行检查数量、授权和库存</a:t>
            </a:r>
          </a:p>
          <a:p xmlns:a="http://schemas.openxmlformats.org/drawingml/2006/main">
            <a:pPr>
              <a:buNone/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校验成功后生成询价草稿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896E4E-C581-44A7-A2E5-8F348722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1281549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9E463D-FA44-4A7E-B5D0-92A6C741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询价、报价与采购订单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90550" y="1504950"/>
          <a:ext xmlns:a="http://schemas.openxmlformats.org/drawingml/2006/main" cx="11029950" cy="4343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33600"/>
                <a:gridCol w="5286375"/>
                <a:gridCol w="3609975"/>
              </a:tblGrid>
              <a:tr h="86868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业务环节</a:t>
                      </a:r>
                    </a:p>
                  </a:txBody>
                  <a:tcPr marL="91440" marR="91440" marT="45720" marB="45720">
                    <a:solidFill>
                      <a:srgbClr val="18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关键输入与规则</a:t>
                      </a:r>
                    </a:p>
                  </a:txBody>
                  <a:tcPr marL="91440" marR="91440" marT="45720" marB="45720">
                    <a:solidFill>
                      <a:srgbClr val="18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形成的记录</a:t>
                      </a:r>
                    </a:p>
                  </a:txBody>
                  <a:tcPr marL="91440" marR="91440" marT="45720" marB="45720">
                    <a:solidFill>
                      <a:srgbClr val="18283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询价 RFQ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批量 SKU、数量、需求说明</a:t>
                      </a:r>
                    </a:p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逐行校验和提交状态限制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询价明细、提交时间</a:t>
                      </a:r>
                    </a:p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企业及提交成员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版本报价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单价、税运、有效期与交付条款</a:t>
                      </a:r>
                    </a:p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确认时核对最新有效版本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报价版本与有效期</a:t>
                      </a:r>
                    </a:p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商品、价格及条款快照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创建采购单 PO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客户采购单号、收货和账单地址</a:t>
                      </a:r>
                    </a:p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校验库存，重复转单保持幂等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关联原询价与报价版本</a:t>
                      </a:r>
                    </a:p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采购单号、地址与金额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付款与履约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收款确认、分批发货及售后</a:t>
                      </a:r>
                    </a:p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限制状态、数量和退款金额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付款、运单和售后历史</a:t>
                      </a:r>
                    </a:p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报价、确认单及发票 PDF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94C7C7-DFF1-4366-9BD9-6C672C6F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rPr>
              <a:t>复购使用当前价格重新计算，保留旧采购单的历史记录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1C5D33-9F93-46CE-8C9D-E53D4E36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92551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4D698B-5362-4338-BB31-EA3C0272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CMS 内容发布与原站运营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9f7185da7b4bfd"/>
          <a:stretch xmlns:a="http://schemas.openxmlformats.org/drawingml/2006/main"/>
        </p:blipFill>
        <p:spPr>
          <a:xfrm xmlns:a="http://schemas.openxmlformats.org/drawingml/2006/main" flipH="0" flipV="0">
            <a:off x="542925" y="1438275"/>
            <a:ext cx="7391400" cy="461962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3B9E44-65F5-4C69-A47D-C869965B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504950"/>
            <a:ext cx="331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编辑与多语言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85682B-713F-4DE9-9F20-82A5DCCE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71675"/>
            <a:ext cx="33147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可视化内容块与富文本</a:t>
            </a:r>
          </a:p>
          <a:p xmlns:a="http://schemas.openxmlformats.org/drawingml/2006/main">
            <a:pPr>
              <a:buNone/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页面、文章、FAQ 及产品关联</a:t>
            </a:r>
          </a:p>
          <a:p xmlns:a="http://schemas.openxmlformats.org/drawingml/2006/main">
            <a:pPr>
              <a:buNone/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分别维护语言和市场内容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E1BB57-085D-4F2D-A8FD-FB2B73DE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52775"/>
            <a:ext cx="331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发布与历史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3AE43F-1A0F-4E55-B553-DA522D02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19500"/>
            <a:ext cx="33147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状态、上线和下线时间校验</a:t>
            </a:r>
          </a:p>
          <a:p xmlns:a="http://schemas.openxmlformats.org/drawingml/2006/main">
            <a:pPr>
              <a:buNone/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保存时核对修订，避免覆盖</a:t>
            </a:r>
          </a:p>
          <a:p xmlns:a="http://schemas.openxmlformats.org/drawingml/2006/main">
            <a:pPr>
              <a:buNone/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旧版恢复为草稿，再决定发布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E7612F-A07E-4DB6-9E14-27EC4A94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00600"/>
            <a:ext cx="331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运营业务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18AAA7-9B29-4DA3-9CA0-D1498FA1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267325"/>
            <a:ext cx="33147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工单分配、优先级和状态流转</a:t>
            </a:r>
          </a:p>
          <a:p xmlns:a="http://schemas.openxmlformats.org/drawingml/2006/main">
            <a:pPr>
              <a:buNone/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区分内部备注与对外回复</a:t>
            </a:r>
          </a:p>
          <a:p xmlns:a="http://schemas.openxmlformats.org/drawingml/2006/main">
            <a:pPr>
              <a:buNone/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通知记录和业务报表查询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5E3599-C77B-4204-A148-FC066334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438732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ECE44D-A8BE-4825-B15C-2C4EE97D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权限、媒体与搜索管理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4238f4db524591"/>
          <a:stretch xmlns:a="http://schemas.openxmlformats.org/drawingml/2006/main"/>
        </p:blipFill>
        <p:spPr>
          <a:xfrm xmlns:a="http://schemas.openxmlformats.org/drawingml/2006/main" flipH="0" flipV="0">
            <a:off x="583882" y="1466850"/>
            <a:ext cx="6842760" cy="427672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CFA20B-BE1D-4552-8353-3CAC7621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57325"/>
            <a:ext cx="3762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统一登录与动作权限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250F6C-BAF2-4668-8AD6-8E703687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24050"/>
            <a:ext cx="376237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公开界面只保留一个登录入口</a:t>
            </a:r>
          </a:p>
          <a:p xmlns:a="http://schemas.openxmlformats.org/drawingml/2006/main">
            <a:pPr>
              <a:buNone/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员工登录及敏感操作使用 MFA</a:t>
            </a:r>
          </a:p>
          <a:p xmlns:a="http://schemas.openxmlformats.org/drawingml/2006/main">
            <a:pPr>
              <a:buNone/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角色、企业状态与资源归属实时核验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F2FE97-8CD0-435A-8DE7-B3637688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05150"/>
            <a:ext cx="3762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媒体与私有下载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49C61F-5B42-403E-8E28-FD234A6D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71875"/>
            <a:ext cx="376237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图片、视频和 PDF 上传校验</a:t>
            </a:r>
          </a:p>
          <a:p xmlns:a="http://schemas.openxmlformats.org/drawingml/2006/main">
            <a:pPr>
              <a:buNone/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文件扫描、可见范围及版本管理</a:t>
            </a:r>
          </a:p>
          <a:p xmlns:a="http://schemas.openxmlformats.org/drawingml/2006/main">
            <a:pPr>
              <a:buNone/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限时授权下载，保护资源引用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6EDC68-10E0-4584-8D05-DBE8819A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752975"/>
            <a:ext cx="3762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搜索与内容检查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67DA4A-F414-4D9E-9D8C-918B6801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6237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公共站、客户、经销商与后台均可中英切换</a:t>
            </a:r>
          </a:p>
          <a:p xmlns:a="http://schemas.openxmlformats.org/drawingml/2006/main">
            <a:pPr>
              <a:buNone/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SEO 元信息、图片替代文本与 sitemap</a:t>
            </a:r>
          </a:p>
          <a:p xmlns:a="http://schemas.openxmlformats.org/drawingml/2006/main">
            <a:pPr>
              <a:buNone/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管理重定向并记录近期 404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BF6A04-2ABE-4D78-ACD8-071BD3E79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120008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010BAD-16FA-40F9-921D-2A5D53CE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当前工作区与历史验证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CA01A7-C44B-4BA1-A622-D7DDB0FA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362075"/>
            <a:ext cx="31718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645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45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154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026D49-717E-46AA-AC06-16229D3D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562225"/>
            <a:ext cx="31718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本机测试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D91139-C15D-441D-A84F-A5CD0E7F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362075"/>
            <a:ext cx="31718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645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45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53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493B97-F85F-49DF-AF2C-D80CDF37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62225"/>
            <a:ext cx="31718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Web 构建页面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038BAE-23E3-422D-A72B-0D321546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362075"/>
            <a:ext cx="31718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645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45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1F5D67-A8C6-43BD-858F-F32DCD47C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562225"/>
            <a:ext cx="31718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原站商品双语主数据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590550" y="3429000"/>
          <a:ext xmlns:a="http://schemas.openxmlformats.org/drawingml/2006/main" cx="1102995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57450"/>
                <a:gridCol w="8572500"/>
              </a:tblGrid>
              <a:tr h="4953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检查内容</a:t>
                      </a:r>
                    </a:p>
                  </a:txBody>
                  <a:tcPr marL="91440" marR="91440" marT="45720" marB="45720">
                    <a:solidFill>
                      <a:srgbClr val="18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已归档结果</a:t>
                      </a:r>
                    </a:p>
                  </a:txBody>
                  <a:tcPr marL="91440" marR="91440" marT="45720" marB="45720">
                    <a:solidFill>
                      <a:srgbClr val="182832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本轮重构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CMS 导航、原站商品主数据和兼容路由已修正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本机质量门禁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lint、typecheck、154 项测试、Seed 与完整构建通过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前端验收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中英文首页保留原站版式与图片；分类和兼容入口可访问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历史证据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CI #54/#51 的 110/169/70、性能和恢复记录单独保留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262AD3-844A-4A9F-BF45-334A4FCA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rPr>
              <a:t>下午改动已通过本机门禁；完整数据库与三浏览器结果以冻结提交的远端 CI 为准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3F984B-0A03-4E31-B202-AE2C7318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99351784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AE68CA-091E-475C-A99A-6335CCBD3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页面性能、负载与恢复验证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7B3038-DEEC-46A6-B338-03275A46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523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页面性能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90550" y="2009775"/>
          <a:ext xmlns:a="http://schemas.openxmlformats.org/drawingml/2006/main" cx="5229225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09800"/>
                <a:gridCol w="1971675"/>
                <a:gridCol w="1047750"/>
              </a:tblGrid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页面模板</a:t>
                      </a:r>
                    </a:p>
                  </a:txBody>
                  <a:tcPr marL="91440" marR="91440" marT="45720" marB="45720">
                    <a:solidFill>
                      <a:srgbClr val="18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LCP 中位数</a:t>
                      </a:r>
                    </a:p>
                  </a:txBody>
                  <a:tcPr marL="91440" marR="91440" marT="45720" marB="45720">
                    <a:solidFill>
                      <a:srgbClr val="18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CLS</a:t>
                      </a:r>
                    </a:p>
                  </a:txBody>
                  <a:tcPr marL="91440" marR="91440" marT="45720" marB="45720">
                    <a:solidFill>
                      <a:srgbClr val="18283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1567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商品列表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2350 ms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商品详情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2419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文章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2260 ms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DCA95A-CA8B-4A31-A0AB-354CD9D4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200650"/>
            <a:ext cx="5353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rPr>
              <a:t>CI #51：移动模拟，每模板 3 次采样</a:t>
            </a:r>
          </a:p>
          <a:p xmlns:a="http://schemas.openxmlformats.org/drawingml/2006/main">
            <a:pPr>
              <a:buNone/>
              <a:defRPr sz="1725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rPr>
              <a:t>四类页面 LCP 均低于本轮 2500 ms 门槛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E3B6AD-F9C5-47B6-976E-ED6431AB1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381125"/>
            <a:ext cx="5219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本机 100 虚拟用户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429375" y="2009775"/>
          <a:ext xmlns:a="http://schemas.openxmlformats.org/drawingml/2006/main" cx="520065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1085850"/>
                <a:gridCol w="1638300"/>
              </a:tblGrid>
              <a:tr h="5715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访问场景</a:t>
                      </a:r>
                    </a:p>
                  </a:txBody>
                  <a:tcPr marL="91440" marR="91440" marT="45720" marB="45720">
                    <a:solidFill>
                      <a:srgbClr val="18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请求数</a:t>
                      </a:r>
                    </a:p>
                  </a:txBody>
                  <a:tcPr marL="91440" marR="91440" marT="45720" marB="45720">
                    <a:solidFill>
                      <a:srgbClr val="18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P95</a:t>
                      </a:r>
                    </a:p>
                  </a:txBody>
                  <a:tcPr marL="91440" marR="91440" marT="45720" marB="45720">
                    <a:solidFill>
                      <a:srgbClr val="18283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公开浏览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118.67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90:10 混合访问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6000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110.21 ms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CE2DB5-1B0D-4EA6-944B-6DDD01D1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62400"/>
            <a:ext cx="5162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每用户每秒一次，两轮错误率均为 0%</a:t>
            </a:r>
          </a:p>
          <a:p xmlns:a="http://schemas.openxmlformats.org/drawingml/2006/main">
            <a:pPr>
              <a:buNone/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混合访问包含 10 个预登录会话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AE5CA2-AFE0-4698-9672-9B1F536B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953000"/>
            <a:ext cx="5162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恢复演练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EE967F-A6EE-4A65-93D2-6856A4B8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457825"/>
            <a:ext cx="5219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数据库及媒体恢复、WAL 时间点恢复</a:t>
            </a:r>
          </a:p>
          <a:p xmlns:a="http://schemas.openxmlformats.org/drawingml/2006/main">
            <a:pPr>
              <a:buNone/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在 CI 环境完成，不代表生产可用率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2AFEDE-2CB4-4BD7-B2DA-3250CB84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84027175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2E365B-9662-4E4D-9881-0D53790B1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项目成果与后续工作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2DE5B1-4B44-461B-B413-84E53F6F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38275"/>
            <a:ext cx="68675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已实现的项目成果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8E3793-A4F1-4EFC-BCC2-B5D913B1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791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业务功能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F20151-C339-437C-8C9B-93C5D0B4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76525"/>
            <a:ext cx="67913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公开网站、消费者购买、企业采购和运营后台</a:t>
            </a:r>
          </a:p>
          <a:p xmlns:a="http://schemas.openxmlformats.org/drawingml/2006/main">
            <a:pPr>
              <a:buNone/>
              <a:defRPr sz="202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商品、交易、内容和权限在同一项目中协同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179205-7C8C-4BBE-9697-3A86ABD6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05250"/>
            <a:ext cx="6791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数据与过程记录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89908F-F49E-4611-A149-66E472A23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71975"/>
            <a:ext cx="67913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订单和报价保存快照，履约及售后保留历史</a:t>
            </a:r>
          </a:p>
          <a:p xmlns:a="http://schemas.openxmlformats.org/drawingml/2006/main">
            <a:pPr>
              <a:buNone/>
              <a:defRPr sz="202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私有资料按业务归属授权，关键操作可审计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840876-98F7-4173-8983-5CAF1635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29275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验证依据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3B6373-7092-418D-AC96-237A90D8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657850"/>
            <a:ext cx="899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154 项本机测试、完整构建、完整双语与统一登录验收均已归档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0BCD85-79B1-4A7B-B6D2-94348CA8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1438275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正式上线前的工作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D76A39-988B-4ECD-BBF0-50820029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276475"/>
            <a:ext cx="3429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真实支付、银行、税务与物流接口联调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正式域名、邮件、CDN 和授权商品素材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真实设备、人工无障碍和长期运行指标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4014B1-C45E-431C-838A-3C7937CE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1696779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2026-09-08T13:03:02.7210000Z</dcterms:created>
  <dcterms:modified xsi:type="dcterms:W3CDTF">2026-09-08T13:03:02.7210000Z</dcterms:modified>
</coreProperties>
</file>