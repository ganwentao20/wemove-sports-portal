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98eb7d6afe845ee" /><Relationship Type="http://schemas.openxmlformats.org/officeDocument/2006/relationships/extended-properties" Target="/docProps/app.xml" Id="R9d2ce8a51c0e442f" /><Relationship Type="http://schemas.openxmlformats.org/officeDocument/2006/relationships/officeDocument" Target="/ppt/presentation.xml" Id="Rd67fb11bb66a411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90efa80346b4d03"/>
  </p:sldMasterIdLst>
  <p:notesMasterIdLst>
    <p:notesMasterId xmlns:r="http://schemas.openxmlformats.org/officeDocument/2006/relationships" r:id="R9815da44dbd943fb"/>
  </p:notesMasterIdLst>
  <p:sldIdLst>
    <p:sldId xmlns:r="http://schemas.openxmlformats.org/officeDocument/2006/relationships" id="256" r:id="R83d964f3ea2947c3"/>
    <p:sldId xmlns:r="http://schemas.openxmlformats.org/officeDocument/2006/relationships" id="257" r:id="Ree7cae0525b94461"/>
    <p:sldId xmlns:r="http://schemas.openxmlformats.org/officeDocument/2006/relationships" id="258" r:id="Re4d741127cea49e9"/>
    <p:sldId xmlns:r="http://schemas.openxmlformats.org/officeDocument/2006/relationships" id="259" r:id="R2d188230a8344db1"/>
    <p:sldId xmlns:r="http://schemas.openxmlformats.org/officeDocument/2006/relationships" id="260" r:id="R89df8a176c904da8"/>
    <p:sldId xmlns:r="http://schemas.openxmlformats.org/officeDocument/2006/relationships" id="261" r:id="R72b159a6841b466c"/>
    <p:sldId xmlns:r="http://schemas.openxmlformats.org/officeDocument/2006/relationships" id="262" r:id="R840e3a085ce4465a"/>
    <p:sldId xmlns:r="http://schemas.openxmlformats.org/officeDocument/2006/relationships" id="263" r:id="R6c34c8c6e54d44f9"/>
    <p:sldId xmlns:r="http://schemas.openxmlformats.org/officeDocument/2006/relationships" id="264" r:id="R74334b9657d343c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e557c7eed3d4b5e" /><Relationship Type="http://schemas.openxmlformats.org/officeDocument/2006/relationships/slideMaster" Target="/ppt/slideMasters/slideMaster1.xml" Id="R190efa80346b4d03" /><Relationship Type="http://schemas.openxmlformats.org/officeDocument/2006/relationships/notesMaster" Target="/ppt/notesMasters/notesMaster1.xml" Id="R9815da44dbd943fb" /><Relationship Type="http://schemas.openxmlformats.org/officeDocument/2006/relationships/presProps" Target="/ppt/presProps.xml" Id="R46f7b9f6e5534507" /><Relationship Type="http://schemas.openxmlformats.org/officeDocument/2006/relationships/tableStyles" Target="/ppt/tableStyles.xml" Id="R5b48ec421d8d4d13" /><Relationship Type="http://schemas.openxmlformats.org/officeDocument/2006/relationships/slide" Target="/ppt/slides/slide1.xml" Id="R83d964f3ea2947c3" /><Relationship Type="http://schemas.openxmlformats.org/officeDocument/2006/relationships/slide" Target="/ppt/slides/slide2.xml" Id="Ree7cae0525b94461" /><Relationship Type="http://schemas.openxmlformats.org/officeDocument/2006/relationships/slide" Target="/ppt/slides/slide3.xml" Id="Re4d741127cea49e9" /><Relationship Type="http://schemas.openxmlformats.org/officeDocument/2006/relationships/slide" Target="/ppt/slides/slide4.xml" Id="R2d188230a8344db1" /><Relationship Type="http://schemas.openxmlformats.org/officeDocument/2006/relationships/slide" Target="/ppt/slides/slide5.xml" Id="R89df8a176c904da8" /><Relationship Type="http://schemas.openxmlformats.org/officeDocument/2006/relationships/slide" Target="/ppt/slides/slide6.xml" Id="R72b159a6841b466c" /><Relationship Type="http://schemas.openxmlformats.org/officeDocument/2006/relationships/slide" Target="/ppt/slides/slide7.xml" Id="R840e3a085ce4465a" /><Relationship Type="http://schemas.openxmlformats.org/officeDocument/2006/relationships/slide" Target="/ppt/slides/slide8.xml" Id="R6c34c8c6e54d44f9" /><Relationship Type="http://schemas.openxmlformats.org/officeDocument/2006/relationships/slide" Target="/ppt/slides/slide9.xml" Id="R74334b9657d343c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7abd2a07ca640d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43e9f76a2314b5f" /><Relationship Type="http://schemas.openxmlformats.org/officeDocument/2006/relationships/notesMaster" Target="/ppt/notesMasters/notesMaster1.xml" Id="R308327d967d649d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e21cfb2e62d47f0" /><Relationship Type="http://schemas.openxmlformats.org/officeDocument/2006/relationships/notesMaster" Target="/ppt/notesMasters/notesMaster1.xml" Id="R37ea7462770e46a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f2e31895f764e45" /><Relationship Type="http://schemas.openxmlformats.org/officeDocument/2006/relationships/notesMaster" Target="/ppt/notesMasters/notesMaster1.xml" Id="R3e1b13bd705146f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6a7e87573b248ce" /><Relationship Type="http://schemas.openxmlformats.org/officeDocument/2006/relationships/notesMaster" Target="/ppt/notesMasters/notesMaster1.xml" Id="R024884bc3f09421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bd0cd2e180249eb" /><Relationship Type="http://schemas.openxmlformats.org/officeDocument/2006/relationships/notesMaster" Target="/ppt/notesMasters/notesMaster1.xml" Id="R010a2ec69113430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01d7410f8464172" /><Relationship Type="http://schemas.openxmlformats.org/officeDocument/2006/relationships/notesMaster" Target="/ppt/notesMasters/notesMaster1.xml" Id="R5538070a6ebf41c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4690ee1393e40dc" /><Relationship Type="http://schemas.openxmlformats.org/officeDocument/2006/relationships/notesMaster" Target="/ppt/notesMasters/notesMaster1.xml" Id="R5d73c34095064b8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d1811fce846498a" /><Relationship Type="http://schemas.openxmlformats.org/officeDocument/2006/relationships/notesMaster" Target="/ppt/notesMasters/notesMaster1.xml" Id="Re0f915ed2e1941a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82e4a4fa36448c4" /><Relationship Type="http://schemas.openxmlformats.org/officeDocument/2006/relationships/notesMaster" Target="/ppt/notesMasters/notesMaster1.xml" Id="R240145bab87d479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来源：项目内概念主视觉 apps/web/public/images/wemove-active-play-hero.png。该图为网站使用的产品场景插画，不作为实拍产品证据。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来源：docs/requirements.md v0.5，四门户功能已实现；真实生产验收前提另列。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来源：docs/plans/workload-current.md。25% + 18.75% × 4 = 100%，为既定任务分配比例，未核定实际工时。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来源：docs/assets/operation-manual/figure-1.png，2026-09-08 本机实际页面截图。功能依据 docs/requirements.md。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来源：docs/assets/operation-manual/figure-3.png，2026-09-08 本机结算页截图；tests/browser 与零售集成测试。DEMO 支付不产生真实扣款。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来源：docs/assets/operation-manual/figure-4.png，为2026-09-08实际后台申请审核页，图中为明确标注的测试申请；采购功能依据B2B控制器、服务与自动化测试。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来源：docs/assets/operation-manual/figure-6.png，2026-09-08实际 CMS 页面；其余功能依据当前模块实现与CI54。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来源：https://github.com/ganwentao20/wemove-sports-portal/actions/runs/34159152642 。CI54源码f3c074f，已包含main5642da2，整合检出d79a2eb，测试树一致。110/169/70为分层自动化用例数，不是需求覆盖率。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来源：docs/deliverables/README.md、docs/delivery-readiness.md。独立思政报告4/5，周慧莹未提交。五人AI说明及汇总齐备。正式商户、资源和长期运行需真实条件。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3dfa23265724a8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c5bf372187c455b" /><Relationship Type="http://schemas.openxmlformats.org/officeDocument/2006/relationships/slideLayout" Target="/ppt/slideLayouts/slideLayout1.xml" Id="R29777a85cb37478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9777a85cb37478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20988450c24eda" /><Relationship Type="http://schemas.openxmlformats.org/officeDocument/2006/relationships/image" Target="/ppt/media/image.png" Id="Rd09777ff1f8046a0" /><Relationship Type="http://schemas.openxmlformats.org/officeDocument/2006/relationships/notesSlide" Target="/ppt/notesSlides/notesSlide1.xml" Id="R9f8918887e2a44c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6b1dfe3f92f4f10" /><Relationship Type="http://schemas.openxmlformats.org/officeDocument/2006/relationships/notesSlide" Target="/ppt/notesSlides/notesSlide2.xml" Id="R2193eeae1be640e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6da7e74a7a42e7" /><Relationship Type="http://schemas.openxmlformats.org/officeDocument/2006/relationships/notesSlide" Target="/ppt/notesSlides/notesSlide3.xml" Id="R60ff0f69d3f5494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cf8423dfdb4e5a" /><Relationship Type="http://schemas.openxmlformats.org/officeDocument/2006/relationships/image" Target="/ppt/media/image2.png" Id="Radd967451eb84848" /><Relationship Type="http://schemas.openxmlformats.org/officeDocument/2006/relationships/notesSlide" Target="/ppt/notesSlides/notesSlide4.xml" Id="R549f74edb7614a6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5eab4e681e4652" /><Relationship Type="http://schemas.openxmlformats.org/officeDocument/2006/relationships/image" Target="/ppt/media/image3.png" Id="R6ab2a07737474c59" /><Relationship Type="http://schemas.openxmlformats.org/officeDocument/2006/relationships/notesSlide" Target="/ppt/notesSlides/notesSlide5.xml" Id="R8ef1c77a7f05419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13057fb69984b88" /><Relationship Type="http://schemas.openxmlformats.org/officeDocument/2006/relationships/image" Target="/ppt/media/image4.png" Id="R569b3ee365cd4a9f" /><Relationship Type="http://schemas.openxmlformats.org/officeDocument/2006/relationships/notesSlide" Target="/ppt/notesSlides/notesSlide6.xml" Id="Rcbf1058d6fdb4c1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3e7f3204be4f13" /><Relationship Type="http://schemas.openxmlformats.org/officeDocument/2006/relationships/image" Target="/ppt/media/image5.png" Id="Rfee35f5bd4154721" /><Relationship Type="http://schemas.openxmlformats.org/officeDocument/2006/relationships/notesSlide" Target="/ppt/notesSlides/notesSlide7.xml" Id="R11bb17d6dfda49e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d0b3a7aeb04962" /><Relationship Type="http://schemas.openxmlformats.org/officeDocument/2006/relationships/notesSlide" Target="/ppt/notesSlides/notesSlide8.xml" Id="R6fb9040439d84a7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e4f2f27b794d49" /><Relationship Type="http://schemas.openxmlformats.org/officeDocument/2006/relationships/notesSlide" Target="/ppt/notesSlides/notesSlide9.xml" Id="R3da5708823e349d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8283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09777ff1f8046a0"/>
          <a:srcRect xmlns:a="http://schemas.openxmlformats.org/drawingml/2006/main" l="19630" t="0" r="1963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943600" y="0"/>
            <a:ext cx="62484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9BD9AC0-4AA7-44A6-A229-937EE7624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43000"/>
            <a:ext cx="56197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54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4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WEMOVE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08C932F-F0B7-4BED-A1F4-24D47C55B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66925"/>
            <a:ext cx="52387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54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4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SPORTS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183547B-6D79-475D-B8CD-3D0240809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3343275"/>
            <a:ext cx="5048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F2F5F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0">
                <a:solidFill>
                  <a:srgbClr val="F2F5F6"/>
                </a:solidFill>
                <a:latin typeface="Microsoft YaHei"/>
                <a:ea typeface="Microsoft YaHei"/>
                <a:cs typeface="Microsoft YaHei"/>
              </a:rPr>
              <a:t>运动产品门户网站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A11CC95-5DA6-430D-9B7C-B778FD9D0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4533900"/>
            <a:ext cx="5143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C4CFD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C4CFD4"/>
                </a:solidFill>
                <a:latin typeface="Microsoft YaHei"/>
                <a:ea typeface="Microsoft YaHei"/>
                <a:cs typeface="Microsoft YaHei"/>
              </a:rPr>
              <a:t>软件开发实践 2 项目汇报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B1292AE-67DF-4BCF-8DE0-3B08D5B76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5048250"/>
            <a:ext cx="4857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C4CFD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C4CFD4"/>
                </a:solidFill>
                <a:latin typeface="Microsoft YaHei"/>
                <a:ea typeface="Microsoft YaHei"/>
                <a:cs typeface="Microsoft YaHei"/>
              </a:rPr>
              <a:t>下午班第 8 组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E706454-0D3C-4183-850D-3C8A8D29F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5762625"/>
            <a:ext cx="49530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E5EAE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E5EAED"/>
                </a:solidFill>
                <a:latin typeface="Microsoft YaHei"/>
                <a:ea typeface="Microsoft YaHei"/>
                <a:cs typeface="Microsoft YaHei"/>
              </a:rPr>
              <a:t>甘文韬  陈婧琳  周慧莹</a:t>
            </a:r>
          </a:p>
          <a:p xmlns:a="http://schemas.openxmlformats.org/drawingml/2006/main">
            <a:pPr>
              <a:defRPr sz="1650" b="0">
                <a:solidFill>
                  <a:srgbClr val="E5EAE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E5EAED"/>
                </a:solidFill>
                <a:latin typeface="Microsoft YaHei"/>
                <a:ea typeface="Microsoft YaHei"/>
                <a:cs typeface="Microsoft YaHei"/>
              </a:rPr>
              <a:t>倪依玲  龙祖怡</a:t>
            </a:r>
          </a:p>
        </p:txBody>
      </p:sp>
    </p:spTree>
    <p:extLst>
      <p:ext uri="{BB962C8B-B14F-4D97-AF65-F5344CB8AC3E}">
        <p14:creationId xmlns:p14="http://schemas.microsoft.com/office/powerpoint/2010/main" val="76223281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005C4B2-8794-45EC-B061-B7734153A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9575"/>
            <a:ext cx="10953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828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82832"/>
                </a:solidFill>
                <a:latin typeface="Microsoft YaHei"/>
                <a:ea typeface="Microsoft YaHei"/>
                <a:cs typeface="Microsoft YaHei"/>
              </a:rPr>
              <a:t>项目功能范围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D534FA5-711E-480A-9A18-70BEB298C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352550"/>
            <a:ext cx="4286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6070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607079"/>
                </a:solidFill>
                <a:latin typeface="Microsoft YaHei"/>
                <a:ea typeface="Microsoft YaHei"/>
                <a:cs typeface="Microsoft YaHei"/>
              </a:rPr>
              <a:t>四类使用者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1578ED7-5CA0-469A-A4D9-DFAF092C5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76475"/>
            <a:ext cx="4857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BA2C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BA2C24"/>
                </a:solidFill>
                <a:latin typeface="Microsoft YaHei"/>
                <a:ea typeface="Microsoft YaHei"/>
                <a:cs typeface="Microsoft YaHei"/>
              </a:rPr>
              <a:t>公众访客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E6D0CAF-FE79-4EE9-9810-4D27FB42C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733675"/>
            <a:ext cx="4857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828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82832"/>
                </a:solidFill>
                <a:latin typeface="Microsoft YaHei"/>
                <a:ea typeface="Microsoft YaHei"/>
                <a:cs typeface="Microsoft YaHei"/>
              </a:rPr>
              <a:t>品牌内容与商品浏览</a:t>
            </a:r>
          </a:p>
          <a:p xmlns:a="http://schemas.openxmlformats.org/drawingml/2006/main">
            <a:pPr>
              <a:defRPr sz="1875" b="0">
                <a:solidFill>
                  <a:srgbClr val="1828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82832"/>
                </a:solidFill>
                <a:latin typeface="Microsoft YaHei"/>
                <a:ea typeface="Microsoft YaHei"/>
                <a:cs typeface="Microsoft YaHei"/>
              </a:rPr>
              <a:t>多语言、市场与搜索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11BE77B-1401-49F0-8612-5ABDC201A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276475"/>
            <a:ext cx="4857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BA2C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BA2C24"/>
                </a:solidFill>
                <a:latin typeface="Microsoft YaHei"/>
                <a:ea typeface="Microsoft YaHei"/>
                <a:cs typeface="Microsoft YaHei"/>
              </a:rPr>
              <a:t>消费者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B3ABC1F-7DC7-4E66-B671-F8B3EF927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733675"/>
            <a:ext cx="4857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828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82832"/>
                </a:solidFill>
                <a:latin typeface="Microsoft YaHei"/>
                <a:ea typeface="Microsoft YaHei"/>
                <a:cs typeface="Microsoft YaHei"/>
              </a:rPr>
              <a:t>账户、购物车与订单</a:t>
            </a:r>
          </a:p>
          <a:p xmlns:a="http://schemas.openxmlformats.org/drawingml/2006/main">
            <a:pPr>
              <a:defRPr sz="1875" b="0">
                <a:solidFill>
                  <a:srgbClr val="1828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82832"/>
                </a:solidFill>
                <a:latin typeface="Microsoft YaHei"/>
                <a:ea typeface="Microsoft YaHei"/>
                <a:cs typeface="Microsoft YaHei"/>
              </a:rPr>
              <a:t>支付、物流和售后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80DAAC0-FE0D-4661-A036-08BE4D917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210050"/>
            <a:ext cx="4857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BA2C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BA2C24"/>
                </a:solidFill>
                <a:latin typeface="Microsoft YaHei"/>
                <a:ea typeface="Microsoft YaHei"/>
                <a:cs typeface="Microsoft YaHei"/>
              </a:rPr>
              <a:t>经销商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A59093A-25DB-4CA2-AD0B-14941D86F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667250"/>
            <a:ext cx="4857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828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82832"/>
                </a:solidFill>
                <a:latin typeface="Microsoft YaHei"/>
                <a:ea typeface="Microsoft YaHei"/>
                <a:cs typeface="Microsoft YaHei"/>
              </a:rPr>
              <a:t>企业授权目录与询报价</a:t>
            </a:r>
          </a:p>
          <a:p xmlns:a="http://schemas.openxmlformats.org/drawingml/2006/main">
            <a:pPr>
              <a:defRPr sz="1875" b="0">
                <a:solidFill>
                  <a:srgbClr val="1828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82832"/>
                </a:solidFill>
                <a:latin typeface="Microsoft YaHei"/>
                <a:ea typeface="Microsoft YaHei"/>
                <a:cs typeface="Microsoft YaHei"/>
              </a:rPr>
              <a:t>采购订单、履约和售后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7826C6B-90DA-49C2-98CD-9A83A8C20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4210050"/>
            <a:ext cx="4857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BA2C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BA2C24"/>
                </a:solidFill>
                <a:latin typeface="Microsoft YaHei"/>
                <a:ea typeface="Microsoft YaHei"/>
                <a:cs typeface="Microsoft YaHei"/>
              </a:rPr>
              <a:t>运营人员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65BE8C1-D3BE-4B6E-B50D-F878EFC75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4667250"/>
            <a:ext cx="4857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828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82832"/>
                </a:solidFill>
                <a:latin typeface="Microsoft YaHei"/>
                <a:ea typeface="Microsoft YaHei"/>
                <a:cs typeface="Microsoft YaHei"/>
              </a:rPr>
              <a:t>商品、价格与库存</a:t>
            </a:r>
          </a:p>
          <a:p xmlns:a="http://schemas.openxmlformats.org/drawingml/2006/main">
            <a:pPr>
              <a:defRPr sz="1875" b="0">
                <a:solidFill>
                  <a:srgbClr val="1828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82832"/>
                </a:solidFill>
                <a:latin typeface="Microsoft YaHei"/>
                <a:ea typeface="Microsoft YaHei"/>
                <a:cs typeface="Microsoft YaHei"/>
              </a:rPr>
              <a:t>内容、媒体、客服和审计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84DE655-87F6-4837-BA87-6BFE4A14E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15075"/>
            <a:ext cx="609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070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07079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84016043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B4863B-AE90-4626-9EB6-A0F5E71BA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9575"/>
            <a:ext cx="10953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828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82832"/>
                </a:solidFill>
                <a:latin typeface="Microsoft YaHei"/>
                <a:ea typeface="Microsoft YaHei"/>
                <a:cs typeface="Microsoft YaHei"/>
              </a:rPr>
              <a:t>成员分工与工作量</a:t>
            </a:r>
          </a:p>
        </p:txBody>
      </p:sp>
      <p:graphicFrame>
        <p:nvGraphicFramePr>
          <p:cNvPr id="6" name=""/>
          <p:cNvGraphicFramePr/>
          <p:nvPr/>
        </p:nvGraphicFramePr>
        <p:xfrm>
          <a:off xmlns:a="http://schemas.openxmlformats.org/drawingml/2006/main" x="571500" y="1524000"/>
          <a:ext xmlns:a="http://schemas.openxmlformats.org/drawingml/2006/main" cx="11049000" cy="4000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619250"/>
                <a:gridCol w="7667625"/>
                <a:gridCol w="1762125"/>
              </a:tblGrid>
              <a:tr h="57150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成员</a:t>
                      </a:r>
                    </a:p>
                  </a:txBody>
                  <a:tcPr marL="91440" marR="91440" marT="45720" marB="45720">
                    <a:solidFill>
                      <a:srgbClr val="1828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职责范围</a:t>
                      </a:r>
                    </a:p>
                  </a:txBody>
                  <a:tcPr marL="91440" marR="91440" marT="45720" marB="45720">
                    <a:solidFill>
                      <a:srgbClr val="1828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计划占比</a:t>
                      </a:r>
                    </a:p>
                  </a:txBody>
                  <a:tcPr marL="91440" marR="91440" marT="45720" marB="45720">
                    <a:solidFill>
                      <a:srgbClr val="182832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283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甘文韬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283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架构、安全与项目整合，兼任 B2B 采购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283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25%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283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陈婧琳</a:t>
                      </a:r>
                    </a:p>
                  </a:txBody>
                  <a:tcPr marL="91440" marR="91440" marT="45720" marB="45720">
                    <a:solidFill>
                      <a:srgbClr val="EEF1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283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官网、响应式页面与消费者中心</a:t>
                      </a:r>
                    </a:p>
                  </a:txBody>
                  <a:tcPr marL="91440" marR="91440" marT="45720" marB="45720">
                    <a:solidFill>
                      <a:srgbClr val="EEF1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283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18.75%</a:t>
                      </a:r>
                    </a:p>
                  </a:txBody>
                  <a:tcPr marL="91440" marR="91440" marT="45720" marB="45720">
                    <a:solidFill>
                      <a:srgbClr val="EEF1F1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283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周慧莹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283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商品、库存、定价与零售订单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283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18.75%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283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倪依玲</a:t>
                      </a:r>
                    </a:p>
                  </a:txBody>
                  <a:tcPr marL="91440" marR="91440" marT="45720" marB="45720">
                    <a:solidFill>
                      <a:srgbClr val="EEF1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283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运营后台、CMS、媒体与联系工单</a:t>
                      </a:r>
                    </a:p>
                  </a:txBody>
                  <a:tcPr marL="91440" marR="91440" marT="45720" marB="45720">
                    <a:solidFill>
                      <a:srgbClr val="EEF1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283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18.75%</a:t>
                      </a:r>
                    </a:p>
                  </a:txBody>
                  <a:tcPr marL="91440" marR="91440" marT="45720" marB="45720">
                    <a:solidFill>
                      <a:srgbClr val="EEF1F1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283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龙祖怡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283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工程化、自动化测试与性能报告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283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18.75%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8283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合计</a:t>
                      </a:r>
                    </a:p>
                  </a:txBody>
                  <a:tcPr marL="91440" marR="91440" marT="45720" marB="45720">
                    <a:solidFill>
                      <a:srgbClr val="EEF1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8283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五人团队</a:t>
                      </a:r>
                    </a:p>
                  </a:txBody>
                  <a:tcPr marL="91440" marR="91440" marT="45720" marB="45720">
                    <a:solidFill>
                      <a:srgbClr val="EEF1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8283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100%</a:t>
                      </a:r>
                    </a:p>
                  </a:txBody>
                  <a:tcPr marL="91440" marR="91440" marT="45720" marB="45720">
                    <a:solidFill>
                      <a:srgbClr val="EEF1F1"/>
                    </a:solidFill>
                  </a:tcPr>
                </a:tc>
              </a:tr>
            </a:tbl>
          </a:graphicData>
        </a:graphic>
      </p:graphicFrame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17BD761-6301-4F41-B19B-7B8EC6EF3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857875"/>
            <a:ext cx="10191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6070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07079"/>
                </a:solidFill>
                <a:latin typeface="Microsoft YaHei"/>
                <a:ea typeface="Microsoft YaHei"/>
                <a:cs typeface="Microsoft YaHei"/>
              </a:rPr>
              <a:t>实际贡献以成员工作记录和共同确认为准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B2C2459-1851-41D2-BB75-14E83695B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15075"/>
            <a:ext cx="609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070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07079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25638017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474F085-E1CF-43F3-935A-D924F38F8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9575"/>
            <a:ext cx="10953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828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82832"/>
                </a:solidFill>
                <a:latin typeface="Microsoft YaHei"/>
                <a:ea typeface="Microsoft YaHei"/>
                <a:cs typeface="Microsoft YaHei"/>
              </a:rPr>
              <a:t>官网与产品</a:t>
            </a:r>
          </a:p>
        </p:txBody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dd967451eb84848"/>
          <a:stretch xmlns:a="http://schemas.openxmlformats.org/drawingml/2006/main"/>
        </p:blipFill>
        <p:spPr>
          <a:xfrm xmlns:a="http://schemas.openxmlformats.org/drawingml/2006/main">
            <a:off x="516255" y="1438275"/>
            <a:ext cx="7559040" cy="47244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CBEE6F0-B062-4BD1-9620-3695548A0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1552575"/>
            <a:ext cx="30575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BA2C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BA2C24"/>
                </a:solidFill>
                <a:latin typeface="Microsoft YaHei"/>
                <a:ea typeface="Microsoft YaHei"/>
                <a:cs typeface="Microsoft YaHei"/>
              </a:rPr>
              <a:t>内容展示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F5F6F21-3964-41E4-985C-CD2370769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009775"/>
            <a:ext cx="30575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828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82832"/>
                </a:solidFill>
                <a:latin typeface="Microsoft YaHei"/>
                <a:ea typeface="Microsoft YaHei"/>
                <a:cs typeface="Microsoft YaHei"/>
              </a:rPr>
              <a:t>多语内容与市场切换</a:t>
            </a:r>
          </a:p>
          <a:p xmlns:a="http://schemas.openxmlformats.org/drawingml/2006/main">
            <a:pPr>
              <a:defRPr sz="1875" b="0">
                <a:solidFill>
                  <a:srgbClr val="1828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82832"/>
                </a:solidFill>
                <a:latin typeface="Microsoft YaHei"/>
                <a:ea typeface="Microsoft YaHei"/>
                <a:cs typeface="Microsoft YaHei"/>
              </a:rPr>
              <a:t>响应式导航与 CMS 模块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725D252-297A-49F9-B191-C8B8E1090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162300"/>
            <a:ext cx="30575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BA2C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BA2C24"/>
                </a:solidFill>
                <a:latin typeface="Microsoft YaHei"/>
                <a:ea typeface="Microsoft YaHei"/>
                <a:cs typeface="Microsoft YaHei"/>
              </a:rPr>
              <a:t>商品发现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FCE370A-A5C6-43FA-81D1-BCCA7166B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619500"/>
            <a:ext cx="30575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828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82832"/>
                </a:solidFill>
                <a:latin typeface="Microsoft YaHei"/>
                <a:ea typeface="Microsoft YaHei"/>
                <a:cs typeface="Microsoft YaHei"/>
              </a:rPr>
              <a:t>分类、搜索与筛选</a:t>
            </a:r>
          </a:p>
          <a:p xmlns:a="http://schemas.openxmlformats.org/drawingml/2006/main">
            <a:pPr>
              <a:defRPr sz="1875" b="0">
                <a:solidFill>
                  <a:srgbClr val="1828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82832"/>
                </a:solidFill>
                <a:latin typeface="Microsoft YaHei"/>
                <a:ea typeface="Microsoft YaHei"/>
                <a:cs typeface="Microsoft YaHei"/>
              </a:rPr>
              <a:t>排序、对比和详情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0273AEF-9194-4082-974E-63F12E476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4772025"/>
            <a:ext cx="30575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BA2C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BA2C24"/>
                </a:solidFill>
                <a:latin typeface="Microsoft YaHei"/>
                <a:ea typeface="Microsoft YaHei"/>
                <a:cs typeface="Microsoft YaHei"/>
              </a:rPr>
              <a:t>支持服务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9194767-86B0-40FF-8502-416D1777B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5229225"/>
            <a:ext cx="30575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828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82832"/>
                </a:solidFill>
                <a:latin typeface="Microsoft YaHei"/>
                <a:ea typeface="Microsoft YaHei"/>
                <a:cs typeface="Microsoft YaHei"/>
              </a:rPr>
              <a:t>指南、FAQ 与资料下载</a:t>
            </a:r>
          </a:p>
          <a:p xmlns:a="http://schemas.openxmlformats.org/drawingml/2006/main">
            <a:pPr>
              <a:defRPr sz="1875" b="0">
                <a:solidFill>
                  <a:srgbClr val="1828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82832"/>
                </a:solidFill>
                <a:latin typeface="Microsoft YaHei"/>
                <a:ea typeface="Microsoft YaHei"/>
                <a:cs typeface="Microsoft YaHei"/>
              </a:rPr>
              <a:t>联系表单与服务入口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E2807D0-4B94-412B-BFD4-7285AD413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15075"/>
            <a:ext cx="609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070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07079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30653922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8A8CB60-1131-411E-A0A7-581140F30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9575"/>
            <a:ext cx="10953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828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82832"/>
                </a:solidFill>
                <a:latin typeface="Microsoft YaHei"/>
                <a:ea typeface="Microsoft YaHei"/>
                <a:cs typeface="Microsoft YaHei"/>
              </a:rPr>
              <a:t>消费者中心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FB41161-FC53-47B1-B674-377968265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628775"/>
            <a:ext cx="33813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BA2C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BA2C24"/>
                </a:solidFill>
                <a:latin typeface="Microsoft YaHei"/>
                <a:ea typeface="Microsoft YaHei"/>
                <a:cs typeface="Microsoft YaHei"/>
              </a:rPr>
              <a:t>账户管理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428614C-FA3F-439C-8E4C-A1578BC8A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085975"/>
            <a:ext cx="33813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828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82832"/>
                </a:solidFill>
                <a:latin typeface="Microsoft YaHei"/>
                <a:ea typeface="Microsoft YaHei"/>
                <a:cs typeface="Microsoft YaHei"/>
              </a:rPr>
              <a:t>注册、验证与找回密码</a:t>
            </a:r>
          </a:p>
          <a:p xmlns:a="http://schemas.openxmlformats.org/drawingml/2006/main">
            <a:pPr>
              <a:defRPr sz="1875" b="0">
                <a:solidFill>
                  <a:srgbClr val="1828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82832"/>
                </a:solidFill>
                <a:latin typeface="Microsoft YaHei"/>
                <a:ea typeface="Microsoft YaHei"/>
                <a:cs typeface="Microsoft YaHei"/>
              </a:rPr>
              <a:t>地址、收藏和个人资料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43E9006-6BBB-41A5-8740-88FDD4025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19450"/>
            <a:ext cx="33813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BA2C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BA2C24"/>
                </a:solidFill>
                <a:latin typeface="Microsoft YaHei"/>
                <a:ea typeface="Microsoft YaHei"/>
                <a:cs typeface="Microsoft YaHei"/>
              </a:rPr>
              <a:t>零售交易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49A7912-C29B-41D3-A929-AD4365B96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76650"/>
            <a:ext cx="33813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828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82832"/>
                </a:solidFill>
                <a:latin typeface="Microsoft YaHei"/>
                <a:ea typeface="Microsoft YaHei"/>
                <a:cs typeface="Microsoft YaHei"/>
              </a:rPr>
              <a:t>游客购物车与登录合并</a:t>
            </a:r>
          </a:p>
          <a:p xmlns:a="http://schemas.openxmlformats.org/drawingml/2006/main">
            <a:pPr>
              <a:defRPr sz="1875" b="0">
                <a:solidFill>
                  <a:srgbClr val="1828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82832"/>
                </a:solidFill>
                <a:latin typeface="Microsoft YaHei"/>
                <a:ea typeface="Microsoft YaHei"/>
                <a:cs typeface="Microsoft YaHei"/>
              </a:rPr>
              <a:t>服务端价格、税费和运费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BA47FEB-CAF2-4FAB-85EC-25AB99EBB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810125"/>
            <a:ext cx="33813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BA2C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BA2C24"/>
                </a:solidFill>
                <a:latin typeface="Microsoft YaHei"/>
                <a:ea typeface="Microsoft YaHei"/>
                <a:cs typeface="Microsoft YaHei"/>
              </a:rPr>
              <a:t>订单售后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215D931-2161-4683-AB67-D60957F17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267325"/>
            <a:ext cx="33813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828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82832"/>
                </a:solidFill>
                <a:latin typeface="Microsoft YaHei"/>
                <a:ea typeface="Microsoft YaHei"/>
                <a:cs typeface="Microsoft YaHei"/>
              </a:rPr>
              <a:t>付款、物流与订单 PDF</a:t>
            </a:r>
          </a:p>
          <a:p xmlns:a="http://schemas.openxmlformats.org/drawingml/2006/main">
            <a:pPr>
              <a:defRPr sz="1875" b="0">
                <a:solidFill>
                  <a:srgbClr val="1828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82832"/>
                </a:solidFill>
                <a:latin typeface="Microsoft YaHei"/>
                <a:ea typeface="Microsoft YaHei"/>
                <a:cs typeface="Microsoft YaHei"/>
              </a:rPr>
              <a:t>退货申请及退款记录</a:t>
            </a:r>
          </a:p>
        </p:txBody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ab2a07737474c59"/>
          <a:stretch xmlns:a="http://schemas.openxmlformats.org/drawingml/2006/main"/>
        </p:blipFill>
        <p:spPr>
          <a:xfrm xmlns:a="http://schemas.openxmlformats.org/drawingml/2006/main">
            <a:off x="4267200" y="1506141"/>
            <a:ext cx="7372350" cy="4607719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F44E566-107B-4A28-AD41-1667CE73B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15075"/>
            <a:ext cx="609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070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07079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207974680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AAEBC03-5101-444B-A771-2E8D40DF5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9575"/>
            <a:ext cx="10953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828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82832"/>
                </a:solidFill>
                <a:latin typeface="Microsoft YaHei"/>
                <a:ea typeface="Microsoft YaHei"/>
                <a:cs typeface="Microsoft YaHei"/>
              </a:rPr>
              <a:t>企业采购</a:t>
            </a:r>
          </a:p>
        </p:txBody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69b3ee365cd4a9f"/>
          <a:stretch xmlns:a="http://schemas.openxmlformats.org/drawingml/2006/main"/>
        </p:blipFill>
        <p:spPr>
          <a:xfrm xmlns:a="http://schemas.openxmlformats.org/drawingml/2006/main">
            <a:off x="572452" y="1438275"/>
            <a:ext cx="7665720" cy="4791075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6D439F2-A4C2-42CC-ABB8-B9E4CC899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77275" y="1514475"/>
            <a:ext cx="28860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BA2C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BA2C24"/>
                </a:solidFill>
                <a:latin typeface="Microsoft YaHei"/>
                <a:ea typeface="Microsoft YaHei"/>
                <a:cs typeface="Microsoft YaHei"/>
              </a:rPr>
              <a:t>授权与成员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C0CC2F-1BAB-4B21-BFF1-E068EDA99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77275" y="1971675"/>
            <a:ext cx="28860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828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82832"/>
                </a:solidFill>
                <a:latin typeface="Microsoft YaHei"/>
                <a:ea typeface="Microsoft YaHei"/>
                <a:cs typeface="Microsoft YaHei"/>
              </a:rPr>
              <a:t>企业条款、角色和价目表</a:t>
            </a:r>
          </a:p>
          <a:p xmlns:a="http://schemas.openxmlformats.org/drawingml/2006/main">
            <a:pPr>
              <a:defRPr sz="1875" b="0">
                <a:solidFill>
                  <a:srgbClr val="1828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82832"/>
                </a:solidFill>
                <a:latin typeface="Microsoft YaHei"/>
                <a:ea typeface="Microsoft YaHei"/>
                <a:cs typeface="Microsoft YaHei"/>
              </a:rPr>
              <a:t>SKU 快速录入与 CSV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7F8DE1C-8B40-4051-B2BD-EC1140162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77275" y="3124200"/>
            <a:ext cx="28860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BA2C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BA2C24"/>
                </a:solidFill>
                <a:latin typeface="Microsoft YaHei"/>
                <a:ea typeface="Microsoft YaHei"/>
                <a:cs typeface="Microsoft YaHei"/>
              </a:rPr>
              <a:t>询价与报价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0A2AEA4-B0CF-4924-BB1A-5FA12B232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77275" y="3581400"/>
            <a:ext cx="28860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828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82832"/>
                </a:solidFill>
                <a:latin typeface="Microsoft YaHei"/>
                <a:ea typeface="Microsoft YaHei"/>
                <a:cs typeface="Microsoft YaHei"/>
              </a:rPr>
              <a:t>版本记录、有效期校验</a:t>
            </a:r>
          </a:p>
          <a:p xmlns:a="http://schemas.openxmlformats.org/drawingml/2006/main">
            <a:pPr>
              <a:defRPr sz="1875" b="0">
                <a:solidFill>
                  <a:srgbClr val="1828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82832"/>
                </a:solidFill>
                <a:latin typeface="Microsoft YaHei"/>
                <a:ea typeface="Microsoft YaHei"/>
                <a:cs typeface="Microsoft YaHei"/>
              </a:rPr>
              <a:t>接受报价与采购快照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B856438-4D47-4B37-B808-BCCFE9414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77275" y="4733925"/>
            <a:ext cx="28860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BA2C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BA2C24"/>
                </a:solidFill>
                <a:latin typeface="Microsoft YaHei"/>
                <a:ea typeface="Microsoft YaHei"/>
                <a:cs typeface="Microsoft YaHei"/>
              </a:rPr>
              <a:t>采购订单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36F3444-180E-43D8-A489-CE6D17A30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77275" y="5191125"/>
            <a:ext cx="28860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828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82832"/>
                </a:solidFill>
                <a:latin typeface="Microsoft YaHei"/>
                <a:ea typeface="Microsoft YaHei"/>
                <a:cs typeface="Microsoft YaHei"/>
              </a:rPr>
              <a:t>付款、分批发货和 PDF</a:t>
            </a:r>
          </a:p>
          <a:p xmlns:a="http://schemas.openxmlformats.org/drawingml/2006/main">
            <a:pPr>
              <a:defRPr sz="1875" b="0">
                <a:solidFill>
                  <a:srgbClr val="1828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82832"/>
                </a:solidFill>
                <a:latin typeface="Microsoft YaHei"/>
                <a:ea typeface="Microsoft YaHei"/>
                <a:cs typeface="Microsoft YaHei"/>
              </a:rPr>
              <a:t>复购、退货与退款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0E7C036-40E1-49CC-ADE5-1C0A2E497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15075"/>
            <a:ext cx="609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070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07079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27092641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B04CBE2-6958-433C-BDED-D6B676F9A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9575"/>
            <a:ext cx="10953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828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82832"/>
                </a:solidFill>
                <a:latin typeface="Microsoft YaHei"/>
                <a:ea typeface="Microsoft YaHei"/>
                <a:cs typeface="Microsoft YaHei"/>
              </a:rPr>
              <a:t>运营管理后台</a:t>
            </a:r>
          </a:p>
        </p:txBody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ee35f5bd4154721"/>
          <a:stretch xmlns:a="http://schemas.openxmlformats.org/drawingml/2006/main"/>
        </p:blipFill>
        <p:spPr>
          <a:xfrm xmlns:a="http://schemas.openxmlformats.org/drawingml/2006/main">
            <a:off x="542925" y="1438870"/>
            <a:ext cx="7572375" cy="4732734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5ABD1FA-5E25-41FB-83F9-C99C7B777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2025" y="1552575"/>
            <a:ext cx="30765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BA2C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BA2C24"/>
                </a:solidFill>
                <a:latin typeface="Microsoft YaHei"/>
                <a:ea typeface="Microsoft YaHei"/>
                <a:cs typeface="Microsoft YaHei"/>
              </a:rPr>
              <a:t>内容与媒体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378D096-40B3-4FBD-B910-659A2E049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2025" y="2009775"/>
            <a:ext cx="30765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828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82832"/>
                </a:solidFill>
                <a:latin typeface="Microsoft YaHei"/>
                <a:ea typeface="Microsoft YaHei"/>
                <a:cs typeface="Microsoft YaHei"/>
              </a:rPr>
              <a:t>可视化编辑、排程和修订</a:t>
            </a:r>
          </a:p>
          <a:p xmlns:a="http://schemas.openxmlformats.org/drawingml/2006/main">
            <a:pPr>
              <a:defRPr sz="1875" b="0">
                <a:solidFill>
                  <a:srgbClr val="1828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82832"/>
                </a:solidFill>
                <a:latin typeface="Microsoft YaHei"/>
                <a:ea typeface="Microsoft YaHei"/>
                <a:cs typeface="Microsoft YaHei"/>
              </a:rPr>
              <a:t>图片、视频及私有资源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330497B-9458-4984-9FCB-4DE015ACD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2025" y="3162300"/>
            <a:ext cx="30765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BA2C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BA2C24"/>
                </a:solidFill>
                <a:latin typeface="Microsoft YaHei"/>
                <a:ea typeface="Microsoft YaHei"/>
                <a:cs typeface="Microsoft YaHei"/>
              </a:rPr>
              <a:t>交易与客服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A28C654-1334-4BF8-9CA1-6BBC3270D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2025" y="3619500"/>
            <a:ext cx="30765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828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82832"/>
                </a:solidFill>
                <a:latin typeface="Microsoft YaHei"/>
                <a:ea typeface="Microsoft YaHei"/>
                <a:cs typeface="Microsoft YaHei"/>
              </a:rPr>
              <a:t>商品、价格、库存和订单</a:t>
            </a:r>
          </a:p>
          <a:p xmlns:a="http://schemas.openxmlformats.org/drawingml/2006/main">
            <a:pPr>
              <a:defRPr sz="1875" b="0">
                <a:solidFill>
                  <a:srgbClr val="1828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82832"/>
                </a:solidFill>
                <a:latin typeface="Microsoft YaHei"/>
                <a:ea typeface="Microsoft YaHei"/>
                <a:cs typeface="Microsoft YaHei"/>
              </a:rPr>
              <a:t>企业审批与联系工单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7351358-89E6-4689-80CF-87D5C0BCB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2025" y="4772025"/>
            <a:ext cx="30765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BA2C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BA2C24"/>
                </a:solidFill>
                <a:latin typeface="Microsoft YaHei"/>
                <a:ea typeface="Microsoft YaHei"/>
                <a:cs typeface="Microsoft YaHei"/>
              </a:rPr>
              <a:t>权限与追溯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11096D6-FF1A-45D2-A2BD-2612DCE44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2025" y="5229225"/>
            <a:ext cx="30765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828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82832"/>
                </a:solidFill>
                <a:latin typeface="Microsoft YaHei"/>
                <a:ea typeface="Microsoft YaHei"/>
                <a:cs typeface="Microsoft YaHei"/>
              </a:rPr>
              <a:t>员工 MFA、动作权限</a:t>
            </a:r>
          </a:p>
          <a:p xmlns:a="http://schemas.openxmlformats.org/drawingml/2006/main">
            <a:pPr>
              <a:defRPr sz="1875" b="0">
                <a:solidFill>
                  <a:srgbClr val="1828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82832"/>
                </a:solidFill>
                <a:latin typeface="Microsoft YaHei"/>
                <a:ea typeface="Microsoft YaHei"/>
                <a:cs typeface="Microsoft YaHei"/>
              </a:rPr>
              <a:t>SEO、审计、通知与报表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3E98262-F127-4073-AE6A-32E4B882C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15075"/>
            <a:ext cx="609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070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07079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97195792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C4C93B8-5585-4F24-BF6D-FCBECF141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9575"/>
            <a:ext cx="10953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828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82832"/>
                </a:solidFill>
                <a:latin typeface="Microsoft YaHei"/>
                <a:ea typeface="Microsoft YaHei"/>
                <a:cs typeface="Microsoft YaHei"/>
              </a:rPr>
              <a:t>整合版本验证结果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386E7DF-7C7B-41D1-AECA-A0D8F704D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1504950"/>
            <a:ext cx="3171825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6600" b="1">
                <a:solidFill>
                  <a:srgbClr val="BA2C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600" b="1">
                <a:solidFill>
                  <a:srgbClr val="BA2C24"/>
                </a:solidFill>
                <a:latin typeface="Microsoft YaHei"/>
                <a:ea typeface="Microsoft YaHei"/>
                <a:cs typeface="Microsoft YaHei"/>
              </a:rPr>
              <a:t>110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92814AB-767C-4904-B175-9EC8698A5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2809875"/>
            <a:ext cx="31718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828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82832"/>
                </a:solidFill>
                <a:latin typeface="Microsoft YaHei"/>
                <a:ea typeface="Microsoft YaHei"/>
                <a:cs typeface="Microsoft YaHei"/>
              </a:rPr>
              <a:t>单元测试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C9828D6-CA48-4973-8ECC-79BA64431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504950"/>
            <a:ext cx="3171825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6600" b="1">
                <a:solidFill>
                  <a:srgbClr val="BA2C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600" b="1">
                <a:solidFill>
                  <a:srgbClr val="BA2C24"/>
                </a:solidFill>
                <a:latin typeface="Microsoft YaHei"/>
                <a:ea typeface="Microsoft YaHei"/>
                <a:cs typeface="Microsoft YaHei"/>
              </a:rPr>
              <a:t>169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18F7C14-625F-425F-BC83-01B19989D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809875"/>
            <a:ext cx="31718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828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82832"/>
                </a:solidFill>
                <a:latin typeface="Microsoft YaHei"/>
                <a:ea typeface="Microsoft YaHei"/>
                <a:cs typeface="Microsoft YaHei"/>
              </a:rPr>
              <a:t>数据库、Redis 与邮件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E9BFC0D-7EB4-4009-B5C3-581FEF4E4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1504950"/>
            <a:ext cx="3171825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6600" b="1">
                <a:solidFill>
                  <a:srgbClr val="BA2C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600" b="1">
                <a:solidFill>
                  <a:srgbClr val="BA2C24"/>
                </a:solidFill>
                <a:latin typeface="Microsoft YaHei"/>
                <a:ea typeface="Microsoft YaHei"/>
                <a:cs typeface="Microsoft YaHei"/>
              </a:rPr>
              <a:t>70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D1704B5-6C67-450A-B471-590085AD5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2809875"/>
            <a:ext cx="31718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828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82832"/>
                </a:solidFill>
                <a:latin typeface="Microsoft YaHei"/>
                <a:ea typeface="Microsoft YaHei"/>
                <a:cs typeface="Microsoft YaHei"/>
              </a:rPr>
              <a:t>浏览器与性能验收</a:t>
            </a:r>
          </a:p>
        </p:txBody>
      </p:sp>
      <p:graphicFrame>
        <p:nvGraphicFramePr>
          <p:cNvPr id="18" name=""/>
          <p:cNvGraphicFramePr/>
          <p:nvPr/>
        </p:nvGraphicFramePr>
        <p:xfrm>
          <a:off xmlns:a="http://schemas.openxmlformats.org/drawingml/2006/main" x="590550" y="3819525"/>
          <a:ext xmlns:a="http://schemas.openxmlformats.org/drawingml/2006/main" cx="11029950" cy="20288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314575"/>
                <a:gridCol w="8715375"/>
              </a:tblGrid>
              <a:tr h="507206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验证层</a:t>
                      </a:r>
                    </a:p>
                  </a:txBody>
                  <a:tcPr marL="91440" marR="91440" marT="45720" marB="45720">
                    <a:solidFill>
                      <a:srgbClr val="1828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结果</a:t>
                      </a:r>
                    </a:p>
                  </a:txBody>
                  <a:tcPr marL="91440" marR="91440" marT="45720" marB="45720">
                    <a:solidFill>
                      <a:srgbClr val="182832"/>
                    </a:solidFill>
                  </a:tcPr>
                </a:tc>
              </a:tr>
              <a:tr h="507206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83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三浏览器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83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Chromium、Firefox、WebKit 全部通过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07206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83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生产运行</a:t>
                      </a:r>
                    </a:p>
                  </a:txBody>
                  <a:tcPr marL="91440" marR="91440" marT="45720" marB="45720">
                    <a:solidFill>
                      <a:srgbClr val="EEF1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83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构建、29 份迁移、镜像实际启动通过</a:t>
                      </a:r>
                    </a:p>
                  </a:txBody>
                  <a:tcPr marL="91440" marR="91440" marT="45720" marB="45720">
                    <a:solidFill>
                      <a:srgbClr val="EEF1F1"/>
                    </a:solidFill>
                  </a:tcPr>
                </a:tc>
              </a:tr>
              <a:tr h="507206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83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扫描与恢复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83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ClamAV、数据库与媒体恢复、时间点恢复通过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0ABD73E-BC07-4C29-B933-B85E5BA18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05525"/>
            <a:ext cx="1028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070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07079"/>
                </a:solidFill>
                <a:latin typeface="Microsoft YaHei"/>
                <a:ea typeface="Microsoft YaHei"/>
                <a:cs typeface="Microsoft YaHei"/>
              </a:rPr>
              <a:t>CI #54 已通过，源码 f3c074f 已包含 main 5642da2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015F8A2-0751-40F6-BF62-A413B547C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15075"/>
            <a:ext cx="609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070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07079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16017992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80462B4-828E-4413-85F2-37AEE4BE2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9575"/>
            <a:ext cx="10953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828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82832"/>
                </a:solidFill>
                <a:latin typeface="Microsoft YaHei"/>
                <a:ea typeface="Microsoft YaHei"/>
                <a:cs typeface="Microsoft YaHei"/>
              </a:rPr>
              <a:t>课程材料与验收边界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B14FE4D-B4F4-4C65-A35B-F82DEB03C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1504950"/>
            <a:ext cx="6381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BA2C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BA2C24"/>
                </a:solidFill>
                <a:latin typeface="Microsoft YaHei"/>
                <a:ea typeface="Microsoft YaHei"/>
                <a:cs typeface="Microsoft YaHei"/>
              </a:rPr>
              <a:t>课程材料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92861A8-47D0-43F1-9AAF-9FB89731B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2266950"/>
            <a:ext cx="6762750" cy="2143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828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82832"/>
                </a:solidFill>
                <a:latin typeface="Microsoft YaHei"/>
                <a:ea typeface="Microsoft YaHei"/>
                <a:cs typeface="Microsoft YaHei"/>
              </a:rPr>
              <a:t>个人技术现状与思政报告</a:t>
            </a:r>
          </a:p>
          <a:p xmlns:a="http://schemas.openxmlformats.org/drawingml/2006/main">
            <a:pPr>
              <a:defRPr sz="2100" b="0">
                <a:solidFill>
                  <a:srgbClr val="1828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82832"/>
                </a:solidFill>
                <a:latin typeface="Microsoft YaHei"/>
                <a:ea typeface="Microsoft YaHei"/>
                <a:cs typeface="Microsoft YaHei"/>
              </a:rPr>
              <a:t>进度计划和正式讨论记录</a:t>
            </a:r>
          </a:p>
          <a:p xmlns:a="http://schemas.openxmlformats.org/drawingml/2006/main">
            <a:pPr>
              <a:defRPr sz="2100" b="0">
                <a:solidFill>
                  <a:srgbClr val="1828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82832"/>
                </a:solidFill>
                <a:latin typeface="Microsoft YaHei"/>
                <a:ea typeface="Microsoft YaHei"/>
                <a:cs typeface="Microsoft YaHei"/>
              </a:rPr>
              <a:t>功能需求与测试报告</a:t>
            </a:r>
          </a:p>
          <a:p xmlns:a="http://schemas.openxmlformats.org/drawingml/2006/main">
            <a:pPr>
              <a:defRPr sz="2100" b="0">
                <a:solidFill>
                  <a:srgbClr val="1828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82832"/>
                </a:solidFill>
                <a:latin typeface="Microsoft YaHei"/>
                <a:ea typeface="Microsoft YaHei"/>
                <a:cs typeface="Microsoft YaHei"/>
              </a:rPr>
              <a:t>项目 PPT、源码及工作量报告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D673F89-E946-49B7-813D-7D03B2EDA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5038725"/>
            <a:ext cx="6943725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6070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607079"/>
                </a:solidFill>
                <a:latin typeface="Microsoft YaHei"/>
                <a:ea typeface="Microsoft YaHei"/>
                <a:cs typeface="Microsoft YaHei"/>
              </a:rPr>
              <a:t>五份个人 AI 说明及团队汇总已整理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BD03828-A2CF-4838-8FC3-D80C4719A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1476375"/>
            <a:ext cx="3171825" cy="1038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5025" b="1">
                <a:solidFill>
                  <a:srgbClr val="BA2C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025" b="1">
                <a:solidFill>
                  <a:srgbClr val="BA2C24"/>
                </a:solidFill>
                <a:latin typeface="Microsoft YaHei"/>
                <a:ea typeface="Microsoft YaHei"/>
                <a:cs typeface="Microsoft YaHei"/>
              </a:rPr>
              <a:t>4 / 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820FE0E-DD10-4D13-B700-5908768F9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609850"/>
            <a:ext cx="3124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828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82832"/>
                </a:solidFill>
                <a:latin typeface="Microsoft YaHei"/>
                <a:ea typeface="Microsoft YaHei"/>
                <a:cs typeface="Microsoft YaHei"/>
              </a:rPr>
              <a:t>独立思政报告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A5D2D62-A194-4A05-BC75-5163AA242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209925"/>
            <a:ext cx="3162300" cy="942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828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82832"/>
                </a:solidFill>
                <a:latin typeface="Microsoft YaHei"/>
                <a:ea typeface="Microsoft YaHei"/>
                <a:cs typeface="Microsoft YaHei"/>
              </a:rPr>
              <a:t>待补周慧莹报告</a:t>
            </a:r>
          </a:p>
          <a:p xmlns:a="http://schemas.openxmlformats.org/drawingml/2006/main">
            <a:pPr>
              <a:defRPr sz="1800" b="0">
                <a:solidFill>
                  <a:srgbClr val="1828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82832"/>
                </a:solidFill>
                <a:latin typeface="Microsoft YaHei"/>
                <a:ea typeface="Microsoft YaHei"/>
                <a:cs typeface="Microsoft YaHei"/>
              </a:rPr>
              <a:t>实际贡献待成员确认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7C290CE-E6B6-4A42-8950-B423D320D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4610100"/>
            <a:ext cx="31527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828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82832"/>
                </a:solidFill>
                <a:latin typeface="Microsoft YaHei"/>
                <a:ea typeface="Microsoft YaHei"/>
                <a:cs typeface="Microsoft YaHei"/>
              </a:rPr>
              <a:t>正式上线验收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69E213B-9513-41BB-A5D0-F4ABD4748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5219700"/>
            <a:ext cx="31623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828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82832"/>
                </a:solidFill>
                <a:latin typeface="Microsoft YaHei"/>
                <a:ea typeface="Microsoft YaHei"/>
                <a:cs typeface="Microsoft YaHei"/>
              </a:rPr>
              <a:t>商户与生产资源联调</a:t>
            </a:r>
          </a:p>
          <a:p xmlns:a="http://schemas.openxmlformats.org/drawingml/2006/main">
            <a:pPr>
              <a:defRPr sz="1800" b="0">
                <a:solidFill>
                  <a:srgbClr val="1828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82832"/>
                </a:solidFill>
                <a:latin typeface="Microsoft YaHei"/>
                <a:ea typeface="Microsoft YaHei"/>
                <a:cs typeface="Microsoft YaHei"/>
              </a:rPr>
              <a:t>真机与长期运行指标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FFF7F5E-7227-4806-A12E-0977E184D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15075"/>
            <a:ext cx="609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070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07079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204226944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2026-09-08T04:31:57.0260000Z</dcterms:created>
  <dcterms:modified xsi:type="dcterms:W3CDTF">2026-09-08T04:31:57.0260000Z</dcterms:modified>
</coreProperties>
</file>