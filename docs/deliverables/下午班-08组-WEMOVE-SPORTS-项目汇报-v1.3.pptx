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cf9b47278241b5" /><Relationship Type="http://schemas.openxmlformats.org/officeDocument/2006/relationships/extended-properties" Target="/docProps/app.xml" Id="R6dabc100415e487e" /><Relationship Type="http://schemas.openxmlformats.org/officeDocument/2006/relationships/officeDocument" Target="/ppt/presentation.xml" Id="R856c7b41783b46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f93fabffe44124"/>
  </p:sldMasterIdLst>
  <p:notesMasterIdLst>
    <p:notesMasterId xmlns:r="http://schemas.openxmlformats.org/officeDocument/2006/relationships" r:id="R5aa47e2349ff4a09"/>
  </p:notesMasterIdLst>
  <p:sldIdLst>
    <p:sldId xmlns:r="http://schemas.openxmlformats.org/officeDocument/2006/relationships" id="256" r:id="R6f024782f656428f"/>
    <p:sldId xmlns:r="http://schemas.openxmlformats.org/officeDocument/2006/relationships" id="257" r:id="R70e7e2a68a06424a"/>
    <p:sldId xmlns:r="http://schemas.openxmlformats.org/officeDocument/2006/relationships" id="258" r:id="Ra47238c703c04d3e"/>
    <p:sldId xmlns:r="http://schemas.openxmlformats.org/officeDocument/2006/relationships" id="259" r:id="R0f336948755a4f77"/>
    <p:sldId xmlns:r="http://schemas.openxmlformats.org/officeDocument/2006/relationships" id="260" r:id="R8118a88dd2e34878"/>
    <p:sldId xmlns:r="http://schemas.openxmlformats.org/officeDocument/2006/relationships" id="261" r:id="Rfc9db57b04a148ac"/>
    <p:sldId xmlns:r="http://schemas.openxmlformats.org/officeDocument/2006/relationships" id="262" r:id="R2b08a430efdd47e9"/>
    <p:sldId xmlns:r="http://schemas.openxmlformats.org/officeDocument/2006/relationships" id="263" r:id="R4f68856d87dc461c"/>
    <p:sldId xmlns:r="http://schemas.openxmlformats.org/officeDocument/2006/relationships" id="264" r:id="R66031b83bf7a4588"/>
    <p:sldId xmlns:r="http://schemas.openxmlformats.org/officeDocument/2006/relationships" id="265" r:id="Rb79ceb99bb7d42d0"/>
    <p:sldId xmlns:r="http://schemas.openxmlformats.org/officeDocument/2006/relationships" id="266" r:id="Rf662ab2a7ef347cf"/>
    <p:sldId xmlns:r="http://schemas.openxmlformats.org/officeDocument/2006/relationships" id="267" r:id="R7d3f4d499dec42ff"/>
    <p:sldId xmlns:r="http://schemas.openxmlformats.org/officeDocument/2006/relationships" id="268" r:id="Re450164c159e4ecc"/>
    <p:sldId xmlns:r="http://schemas.openxmlformats.org/officeDocument/2006/relationships" id="269" r:id="Re4c4a6c0780644e4"/>
    <p:sldId xmlns:r="http://schemas.openxmlformats.org/officeDocument/2006/relationships" id="270" r:id="R6569a0d98c1f4a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b48530f8ef4547" /><Relationship Type="http://schemas.openxmlformats.org/officeDocument/2006/relationships/slideMaster" Target="/ppt/slideMasters/slideMaster1.xml" Id="R45f93fabffe44124" /><Relationship Type="http://schemas.openxmlformats.org/officeDocument/2006/relationships/notesMaster" Target="/ppt/notesMasters/notesMaster1.xml" Id="R5aa47e2349ff4a09" /><Relationship Type="http://schemas.openxmlformats.org/officeDocument/2006/relationships/presProps" Target="/ppt/presProps.xml" Id="R2d91e3954bbc4cd7" /><Relationship Type="http://schemas.openxmlformats.org/officeDocument/2006/relationships/tableStyles" Target="/ppt/tableStyles.xml" Id="Rda425a987dbc4d52" /><Relationship Type="http://schemas.openxmlformats.org/officeDocument/2006/relationships/slide" Target="/ppt/slides/slide1.xml" Id="R6f024782f656428f" /><Relationship Type="http://schemas.openxmlformats.org/officeDocument/2006/relationships/slide" Target="/ppt/slides/slide2.xml" Id="R70e7e2a68a06424a" /><Relationship Type="http://schemas.openxmlformats.org/officeDocument/2006/relationships/slide" Target="/ppt/slides/slide3.xml" Id="Ra47238c703c04d3e" /><Relationship Type="http://schemas.openxmlformats.org/officeDocument/2006/relationships/slide" Target="/ppt/slides/slide4.xml" Id="R0f336948755a4f77" /><Relationship Type="http://schemas.openxmlformats.org/officeDocument/2006/relationships/slide" Target="/ppt/slides/slide5.xml" Id="R8118a88dd2e34878" /><Relationship Type="http://schemas.openxmlformats.org/officeDocument/2006/relationships/slide" Target="/ppt/slides/slide6.xml" Id="Rfc9db57b04a148ac" /><Relationship Type="http://schemas.openxmlformats.org/officeDocument/2006/relationships/slide" Target="/ppt/slides/slide7.xml" Id="R2b08a430efdd47e9" /><Relationship Type="http://schemas.openxmlformats.org/officeDocument/2006/relationships/slide" Target="/ppt/slides/slide8.xml" Id="R4f68856d87dc461c" /><Relationship Type="http://schemas.openxmlformats.org/officeDocument/2006/relationships/slide" Target="/ppt/slides/slide9.xml" Id="R66031b83bf7a4588" /><Relationship Type="http://schemas.openxmlformats.org/officeDocument/2006/relationships/slide" Target="/ppt/slides/slide10.xml" Id="Rb79ceb99bb7d42d0" /><Relationship Type="http://schemas.openxmlformats.org/officeDocument/2006/relationships/slide" Target="/ppt/slides/slide11.xml" Id="Rf662ab2a7ef347cf" /><Relationship Type="http://schemas.openxmlformats.org/officeDocument/2006/relationships/slide" Target="/ppt/slides/slide12.xml" Id="R7d3f4d499dec42ff" /><Relationship Type="http://schemas.openxmlformats.org/officeDocument/2006/relationships/slide" Target="/ppt/slides/slide13.xml" Id="Re450164c159e4ecc" /><Relationship Type="http://schemas.openxmlformats.org/officeDocument/2006/relationships/slide" Target="/ppt/slides/slide14.xml" Id="Re4c4a6c0780644e4" /><Relationship Type="http://schemas.openxmlformats.org/officeDocument/2006/relationships/slide" Target="/ppt/slides/slide15.xml" Id="R6569a0d98c1f4a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1ca724f5824bd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9805358f1e4c8e" /><Relationship Type="http://schemas.openxmlformats.org/officeDocument/2006/relationships/notesMaster" Target="/ppt/notesMasters/notesMaster1.xml" Id="Rcdfafec241e140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975dcb56cc940a4" /><Relationship Type="http://schemas.openxmlformats.org/officeDocument/2006/relationships/notesMaster" Target="/ppt/notesMasters/notesMaster1.xml" Id="Rc16eb819677e44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3163ee109c4c24" /><Relationship Type="http://schemas.openxmlformats.org/officeDocument/2006/relationships/notesMaster" Target="/ppt/notesMasters/notesMaster1.xml" Id="R65894425a6fb44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2f3fa9259f4608" /><Relationship Type="http://schemas.openxmlformats.org/officeDocument/2006/relationships/notesMaster" Target="/ppt/notesMasters/notesMaster1.xml" Id="Rda17ce42708c44c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14e481c5aa4f5b" /><Relationship Type="http://schemas.openxmlformats.org/officeDocument/2006/relationships/notesMaster" Target="/ppt/notesMasters/notesMaster1.xml" Id="R397782db565d48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6ea31f4a464f3a" /><Relationship Type="http://schemas.openxmlformats.org/officeDocument/2006/relationships/notesMaster" Target="/ppt/notesMasters/notesMaster1.xml" Id="R62b5686ffe4845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76f8ae7df44f97" /><Relationship Type="http://schemas.openxmlformats.org/officeDocument/2006/relationships/notesMaster" Target="/ppt/notesMasters/notesMaster1.xml" Id="R3ec8648e08f84e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d4b5c0f9cf4d90" /><Relationship Type="http://schemas.openxmlformats.org/officeDocument/2006/relationships/notesMaster" Target="/ppt/notesMasters/notesMaster1.xml" Id="R30277313966e4b4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25f37c0e3494f2e" /><Relationship Type="http://schemas.openxmlformats.org/officeDocument/2006/relationships/notesMaster" Target="/ppt/notesMasters/notesMaster1.xml" Id="R163ede153d3042c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29935eb33984f56" /><Relationship Type="http://schemas.openxmlformats.org/officeDocument/2006/relationships/notesMaster" Target="/ppt/notesMasters/notesMaster1.xml" Id="R40f240cf30a044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2ea75280e4044fe" /><Relationship Type="http://schemas.openxmlformats.org/officeDocument/2006/relationships/notesMaster" Target="/ppt/notesMasters/notesMaster1.xml" Id="R940a19d8e32249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92dd16261eb4e52" /><Relationship Type="http://schemas.openxmlformats.org/officeDocument/2006/relationships/notesMaster" Target="/ppt/notesMasters/notesMaster1.xml" Id="R0172391c2d8040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cb58152407f4117" /><Relationship Type="http://schemas.openxmlformats.org/officeDocument/2006/relationships/notesMaster" Target="/ppt/notesMasters/notesMaster1.xml" Id="R7ba0e7ebd0834bd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c49111fec8f4a7a" /><Relationship Type="http://schemas.openxmlformats.org/officeDocument/2006/relationships/notesMaster" Target="/ppt/notesMasters/notesMaster1.xml" Id="R1e19043533d2470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658c869891745d8" /><Relationship Type="http://schemas.openxmlformats.org/officeDocument/2006/relationships/notesMaster" Target="/ppt/notesMasters/notesMaster1.xml" Id="Rf92d551d823e4f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来源：apps/web/public/images/wemove-active-play-hero.png，项目内产品场景插画，不作为实拍商品照片。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来源：docs/requirements.md v0.5，docs/operation-manual.md。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来源：docs/plans/workload-current.md。25% + 18.75% × 4 = 100%，为既定任务分配比例。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来源：apps/web/package.json、apps/api/package.json、infra/docker-compose.yml、docs/api/data-dictionary-review-20260908.md、.github/workflows/ci.yml。版本为当前仓库配置。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来源：docs/assets/operation-manual/figure-1.png，为2026-09-08实际本机首页截图；docs/requirements.md。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来源：docs/assets/operation-manual/figure-5.png，为实际后台商品页截图；apps/api/src/catalog、pricing、order；docs/requirements.md。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来源：docs/assets/operation-manual/figure-3.png，为实际结算页截图；docs/test-report.md 第3节与零售集成测试。DEMO支付不产生真实扣款。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来源：docs/test-report.md 第3节，apps/api/src/order/commerce.service.ts:476、595、761、1204、1341及对应集成测试。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来源：docs/assets/operation-manual/figure-4.png，为2026-09-08实际后台企业申请审核页，图中为测试申请；dealer-lifecycle和B2B集成测试。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来源：B2B服务及 b2b-flow / b2b-after-sales 集成测试，docs/requirements.md。银行转账在课程环境为人工登记，真实到账需银行接口联调。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来源：docs/assets/operation-manual/figure-6.png，为实际 CMS 截图；content-navigation、platform集成测试及CMS实现。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来源：docs/assets/operation-manual/figure-7.png，为实际SEO后台截图；auth/identity/media-lifecycle集成测试与docs/test-report.md。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来源：CI54 https://github.com/ganwentao20/wemove-sports-portal/actions/runs/34159152642 ，源码f3c074f，包含main5642da2，检出d79a2eb，mainIncluded/sourceAndCheckoutTreesMatch均为true。CI55对5ffaba8文档提交也已通过：https://github.com/ganwentao20/wemove-sports-portal/actions/runs/34187607999 。用例数量来自CI54归档，非需求覆盖率。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来源：docs/test-report.md 第4、5节，docs/evidence/report-20260908/ci51-lighthouse-summary.json、load-public.json、load-mixed.json。LCP为CI51移动模拟，每模板3次中位数；本机100虚拟用户每秒各1请求、60轮，混合场景使用同一测试账号的10个独立预登录会话。恢复验证依据CI54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来源：docs/requirements.md、docs/delivery-readiness.md、docs/test-report.md。成果对应现有功能和自动化验证，正式生产接入与长期指标需真实条件。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03fd372fc9476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a839ff521644dd" /><Relationship Type="http://schemas.openxmlformats.org/officeDocument/2006/relationships/slideLayout" Target="/ppt/slideLayouts/slideLayout1.xml" Id="R4f079320029a4e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079320029a4e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9729c766747ef" /><Relationship Type="http://schemas.openxmlformats.org/officeDocument/2006/relationships/image" Target="/ppt/media/image.png" Id="Re659f2756f964776" /><Relationship Type="http://schemas.openxmlformats.org/officeDocument/2006/relationships/notesSlide" Target="/ppt/notesSlides/notesSlide1.xml" Id="R2292b58c5caa48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5a4e2f5ee47cd" /><Relationship Type="http://schemas.openxmlformats.org/officeDocument/2006/relationships/notesSlide" Target="/ppt/notesSlides/notesSlide2.xml" Id="R6c45c49017c84d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cd0c1211b4afc" /><Relationship Type="http://schemas.openxmlformats.org/officeDocument/2006/relationships/notesSlide" Target="/ppt/notesSlides/notesSlide3.xml" Id="Re31b1a56330442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e3d3a5c1945e8" /><Relationship Type="http://schemas.openxmlformats.org/officeDocument/2006/relationships/notesSlide" Target="/ppt/notesSlides/notesSlide4.xml" Id="Re7872a7b29f94a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952e31c1f947e9" /><Relationship Type="http://schemas.openxmlformats.org/officeDocument/2006/relationships/image" Target="/ppt/media/image2.png" Id="R14f6d3547e08429b" /><Relationship Type="http://schemas.openxmlformats.org/officeDocument/2006/relationships/notesSlide" Target="/ppt/notesSlides/notesSlide5.xml" Id="R751e900e9f6b4d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01aa296954f2e" /><Relationship Type="http://schemas.openxmlformats.org/officeDocument/2006/relationships/image" Target="/ppt/media/image3.png" Id="Rb6f6226a5a6a4b8a" /><Relationship Type="http://schemas.openxmlformats.org/officeDocument/2006/relationships/notesSlide" Target="/ppt/notesSlides/notesSlide6.xml" Id="Rb0645b4be85244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983637f6946d7" /><Relationship Type="http://schemas.openxmlformats.org/officeDocument/2006/relationships/image" Target="/ppt/media/image4.png" Id="Rf2b90ef72d204aa0" /><Relationship Type="http://schemas.openxmlformats.org/officeDocument/2006/relationships/notesSlide" Target="/ppt/notesSlides/notesSlide7.xml" Id="R3a3ecc474da843e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73d3e2e82488f" /><Relationship Type="http://schemas.openxmlformats.org/officeDocument/2006/relationships/notesSlide" Target="/ppt/notesSlides/notesSlide8.xml" Id="Rb4eefa983a0242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3a2c8896340f3" /><Relationship Type="http://schemas.openxmlformats.org/officeDocument/2006/relationships/image" Target="/ppt/media/image5.png" Id="Rbe39918d203e49ca" /><Relationship Type="http://schemas.openxmlformats.org/officeDocument/2006/relationships/notesSlide" Target="/ppt/notesSlides/notesSlide9.xml" Id="R03cef83c4cf441d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4e48ca3ce4445" /><Relationship Type="http://schemas.openxmlformats.org/officeDocument/2006/relationships/notesSlide" Target="/ppt/notesSlides/notesSlide10.xml" Id="Reabad403cb634a3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083a7ae6a4190" /><Relationship Type="http://schemas.openxmlformats.org/officeDocument/2006/relationships/image" Target="/ppt/media/image6.png" Id="R2b1228a76c4645a1" /><Relationship Type="http://schemas.openxmlformats.org/officeDocument/2006/relationships/notesSlide" Target="/ppt/notesSlides/notesSlide11.xml" Id="R0924a917c2d1408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7e581532c46d9" /><Relationship Type="http://schemas.openxmlformats.org/officeDocument/2006/relationships/image" Target="/ppt/media/image7.png" Id="R4e389a056e624952" /><Relationship Type="http://schemas.openxmlformats.org/officeDocument/2006/relationships/notesSlide" Target="/ppt/notesSlides/notesSlide12.xml" Id="R97b5f9f72a3f42c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d53bc1e664312" /><Relationship Type="http://schemas.openxmlformats.org/officeDocument/2006/relationships/notesSlide" Target="/ppt/notesSlides/notesSlide13.xml" Id="R82f45e9869de432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8d703492f4b49" /><Relationship Type="http://schemas.openxmlformats.org/officeDocument/2006/relationships/notesSlide" Target="/ppt/notesSlides/notesSlide14.xml" Id="Rc71268b82a2d44c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ed3b3da434f2e" /><Relationship Type="http://schemas.openxmlformats.org/officeDocument/2006/relationships/notesSlide" Target="/ppt/notesSlides/notesSlide15.xml" Id="Rb13d7d1302b44d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2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59f2756f964776"/>
          <a:srcRect xmlns:a="http://schemas.openxmlformats.org/drawingml/2006/main" l="19630" t="0" r="1963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0" y="0"/>
            <a:ext cx="62484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C4EFF-93A6-4BD3-A5BA-9B31746C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3000"/>
            <a:ext cx="5619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WEMOVE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D8BD1-9715-428A-ABDD-8E1E0C48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669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SPORTS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D867D-13B8-4B98-BBA2-7433CDC6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343275"/>
            <a:ext cx="5048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F2F5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F2F5F6"/>
                </a:solidFill>
                <a:latin typeface="Microsoft YaHei"/>
                <a:ea typeface="Microsoft YaHei"/>
                <a:cs typeface="Microsoft YaHei"/>
              </a:rPr>
              <a:t>运动产品门户网站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E68348-F1DC-492E-A7F2-D06D2219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53390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C4CF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C4CFD4"/>
                </a:solidFill>
                <a:latin typeface="Microsoft YaHei"/>
                <a:ea typeface="Microsoft YaHei"/>
                <a:cs typeface="Microsoft YaHei"/>
              </a:rPr>
              <a:t>软件开发实践 2 项目汇报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9C05C-BE88-4CED-93D2-7B8CF6A3F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048250"/>
            <a:ext cx="4857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C4CF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C4CFD4"/>
                </a:solidFill>
                <a:latin typeface="Microsoft YaHei"/>
                <a:ea typeface="Microsoft YaHei"/>
                <a:cs typeface="Microsoft YaHei"/>
              </a:rPr>
              <a:t>下午班第 8 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DE459B-9FB4-4520-8DAF-20C958E7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762625"/>
            <a:ext cx="4953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5E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E5EAED"/>
                </a:solidFill>
                <a:latin typeface="Microsoft YaHei"/>
                <a:ea typeface="Microsoft YaHei"/>
                <a:cs typeface="Microsoft YaHei"/>
              </a:rPr>
              <a:t>甘文韬  陈婧琳  周慧莹</a:t>
            </a:r>
          </a:p>
          <a:p xmlns:a="http://schemas.openxmlformats.org/drawingml/2006/main">
            <a:pPr>
              <a:defRPr sz="1650" b="0">
                <a:solidFill>
                  <a:srgbClr val="E5E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E5EAED"/>
                </a:solidFill>
                <a:latin typeface="Microsoft YaHei"/>
                <a:ea typeface="Microsoft YaHei"/>
                <a:cs typeface="Microsoft YaHei"/>
              </a:rPr>
              <a:t>倪依玲  龙祖怡</a:t>
            </a:r>
          </a:p>
        </p:txBody>
      </p:sp>
    </p:spTree>
    <p:extLst>
      <p:ext uri="{BB962C8B-B14F-4D97-AF65-F5344CB8AC3E}">
        <p14:creationId xmlns:p14="http://schemas.microsoft.com/office/powerpoint/2010/main" val="13789524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2E946E-58EA-4F93-AED2-DA8AB2F5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项目定位与功能范围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86379F-4468-4979-ABEE-DEF1943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3350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面向运动产品展示、个人购买和企业采购的统一网站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7BE10F-F5A5-4CEC-B6ED-AAD3F04A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3362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公众访客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269A2-2EA6-4173-BEAD-F9F9863D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00350"/>
            <a:ext cx="5143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浏览品牌、商品、文章与玩法指南</a:t>
            </a:r>
          </a:p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按分类和市场查找产品及支持资料</a:t>
            </a:r>
          </a:p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通过联系表单提交咨询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BD5E62-51FA-463B-B64A-A9A6ADBE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33362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消费者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339D3F-678E-4563-8C9B-7E07E380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800350"/>
            <a:ext cx="5143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注册、邮箱验证与收货地址管理</a:t>
            </a:r>
          </a:p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购物车结算、付款和订单查询</a:t>
            </a:r>
          </a:p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查看物流、下载凭证及申请售后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5F8A35-CDD0-40C3-9FD6-730B000F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企业采购员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6877E7-8678-4AE7-B1B0-6D3BF271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00600"/>
            <a:ext cx="5143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企业准入、授权目录和专属价格</a:t>
            </a:r>
          </a:p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SKU 批量录入、询价和报价确认</a:t>
            </a:r>
          </a:p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采购单、收款、分批履约与复购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89525-9122-470B-B345-DD69B39F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33387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运营人员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45430-DCA0-42DE-87C0-65BFAB2D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800600"/>
            <a:ext cx="5143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维护商品、价格、库存和页面内容</a:t>
            </a:r>
          </a:p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管理媒体、客服工单及企业申请</a:t>
            </a:r>
          </a:p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按岗位权限操作并保留审计记录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165F35-7F4D-4317-BFF1-78A3291F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031619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552F2-67CB-45A8-A751-40B661AA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成员分工与工作量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571500" y="1524000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7667625"/>
                <a:gridCol w="1762125"/>
              </a:tblGrid>
              <a:tr h="5715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成员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职责范围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计划占比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甘文韬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架构、安全与项目整合，兼任 B2B 采购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陈婧琳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官网、响应式页面与消费者中心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18.75%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周慧莹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商品、库存、定价与零售订单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18.75%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倪依玲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运营后台、CMS、媒体与联系工单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18.75%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龙祖怡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工程化、自动化测试与性能报告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18.75%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五人团队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5E35F7-521F-4B00-ACA9-A98CE1CF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57875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实际贡献以成员工作记录和共同确认为准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50632A-9A5A-445B-9BC7-0F04E0A6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094857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AFFB4-8D18-486E-914F-1EC6B561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系统架构与技术实现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590550" y="1447800"/>
          <a:ext xmlns:a="http://schemas.openxmlformats.org/drawingml/2006/main" cx="1102995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3381375"/>
                <a:gridCol w="5981700"/>
              </a:tblGrid>
              <a:tr h="7810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层次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主要技术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承担职责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页面与交互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Next.js 16、React 19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TypeScript、Tailwind CSS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官网、消费者、企业和后台四组页面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共享组件、响应式布局与多语言展示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业务接口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NestJS 12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REST API /api/v1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身份、目录、定价、订单、采购和内容模块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输入校验、权限检查与业务状态处理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数据存储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Prisma 6、PostgreSQL 16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Redis 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关系数据、交易快照和业务事务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会话、缓存与请求频率控制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运行与验证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Docker、Mailpit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GitHub Actions、Playwright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可重复的构建与部署环境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邮件集成、浏览器验收及恢复演练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BBC20-AD69-466C-963D-138AB6E5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695950"/>
            <a:ext cx="108108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数据字典：61 个业务模型、768 个字段、15 个枚举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CAA420-91D1-4433-845A-865FC6AA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450100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762244-1188-4374-AAD2-C2E2EAEB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官网、内容与商品发现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f6d3547e08429b"/>
          <a:stretch xmlns:a="http://schemas.openxmlformats.org/drawingml/2006/main"/>
        </p:blipFill>
        <p:spPr>
          <a:xfrm xmlns:a="http://schemas.openxmlformats.org/drawingml/2006/main">
            <a:off x="514350" y="1438870"/>
            <a:ext cx="7419975" cy="463748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56A250-9DD9-45E8-88F5-13FBE90E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476375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公开内容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2C6958-FAC6-490E-A31A-2A76D41A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43100"/>
            <a:ext cx="3314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多语言和市场切换</a:t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首页模块、文章与玩法指南</a:t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内容由 CMS 发布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1130B4-4204-4944-803B-691AA21B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05150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商品发现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0F7FE-A459-42DE-9E9F-CF32DCF0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571875"/>
            <a:ext cx="3314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分类、搜索、筛选与排序</a:t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商品对比、收藏及规格详情</a:t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按市场显示可购信息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8EBF06-7E48-4DA5-96F4-125EA997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33925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页面体验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7629EC-75A5-4095-827A-A608CC74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200650"/>
            <a:ext cx="3314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移动端布局与键盘访问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FAQ、资料下载与联系入口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动效适配减少动态效果偏好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97FA7-1241-4CFE-A7DC-CE385264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08840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6CE2A9-BDB8-44AF-8B07-A9E0B434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商品、价格与库存管理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6226a5a6a4b8a"/>
          <a:stretch xmlns:a="http://schemas.openxmlformats.org/drawingml/2006/main"/>
        </p:blipFill>
        <p:spPr>
          <a:xfrm xmlns:a="http://schemas.openxmlformats.org/drawingml/2006/main">
            <a:off x="533400" y="1487686"/>
            <a:ext cx="7400925" cy="462557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2150D-5E63-427C-9FD9-91B5B8B6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24000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商品与 SKU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96118B-D7C1-4A12-B11B-74D1BB73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90725"/>
            <a:ext cx="3314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管理上下架、分类和规格</a:t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维护产品说明与适用信息</a:t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按 SKU 定价和记录库存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2FB914-CFD8-4B81-9F0D-0C2F255E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52775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市场与企业价格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5B45B3-D106-47A0-91C6-1595828D8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19500"/>
            <a:ext cx="3314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区分零售价和企业采购价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按市场、价目表匹配规则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当前身份决定价格可见范围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444A82-AAD6-4696-B179-7E35C7E1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81550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交易库存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1ACEA-4BC7-4ABE-AFE5-E71BF2E6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248275"/>
            <a:ext cx="3314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区分可用量与预留量</a:t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创建订单时检查库存</a:t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取消、履约按状态处理数量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E2B5D6-FDA5-4F3B-840E-F83A03F3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93046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64AA28-3EEC-4033-A290-690D0AAE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消费者购买与订单服务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E2222-2058-432D-9949-5C539BB4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338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账户与购物车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BE5B74-4F84-4D04-99FC-F6EF3E38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66925"/>
            <a:ext cx="3381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注册、验证与找回密码</a:t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地址、收藏和个人资料</a:t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游客购物车登录后合并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C53E7D-91BD-493E-AF0B-F4F2F491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338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结算与付款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74663-5BC5-49C2-AAE7-4AA80EBA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95700"/>
            <a:ext cx="3381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重新核对价格、库存和税运</a:t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保存收货地址及商品快照</a:t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演示支付与付款状态查询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B5A7A5-C97D-4A15-BB3E-24979FDD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57750"/>
            <a:ext cx="338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订单与售后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26DF84-C80F-4845-9F57-6D333724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24475"/>
            <a:ext cx="3381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订单列表、物流和 PDF 凭证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退货、换货及退款记录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售后附件按订单归属授权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b90ef72d204aa0"/>
          <a:stretch xmlns:a="http://schemas.openxmlformats.org/drawingml/2006/main"/>
        </p:blipFill>
        <p:spPr>
          <a:xfrm xmlns:a="http://schemas.openxmlformats.org/drawingml/2006/main">
            <a:off x="4267200" y="1506141"/>
            <a:ext cx="7372350" cy="460771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6FFE29-6115-4382-B534-BC73D985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487658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EB6FE6-4267-4607-A04E-4BC38E4D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订单一致性与异常处理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590550" y="1457325"/>
          <a:ext xmlns:a="http://schemas.openxmlformats.org/drawingml/2006/main" cx="11029950" cy="4457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4905375"/>
                <a:gridCol w="3838575"/>
              </a:tblGrid>
              <a:tr h="7429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业务场景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服务端处理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用户可见结果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价格或库存变化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结算重新核对当前价格和可用库存</a:t>
                      </a:r>
                    </a:p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保存确认时的商品、金额和地址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按当前价格形成订单金额</a:t>
                      </a:r>
                    </a:p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库存不足返回明确原因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重复点击或回调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校验身份、币种、金额与当前状态</a:t>
                      </a:r>
                    </a:p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用幂等和事务约束重复处理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避免重复建单、重复付款入账</a:t>
                      </a:r>
                    </a:p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以及重复扣减库存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取消后付款成功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识别库存释放后的迟到支付回调</a:t>
                      </a:r>
                    </a:p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创建补偿退款并保持原幂等身份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已取消订单不继续发货</a:t>
                      </a:r>
                    </a:p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退款过程有记录并可重试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退货与退款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检查已发货量、收货状态和可退金额</a:t>
                      </a:r>
                    </a:p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记录退款原因及关联申请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保留物流、售后和退款历史</a:t>
                      </a:r>
                    </a:p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限制超数量或超金额操作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访问私有资料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校验订单、企业或售后申请归属</a:t>
                      </a:r>
                    </a:p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私有资源在授权后提供下载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越权请求拒绝</a:t>
                      </a:r>
                    </a:p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本人可查看凭证及售后附件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A30E9-E830-4C4D-8475-5DEB1955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测试同时覆盖成功路径、重复请求和越权访问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2A04AA-EA7B-4F1D-A083-277D170E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133064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5410D-FB36-4AAC-886A-8A68420D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企业准入与采购权限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39918d203e49ca"/>
          <a:stretch xmlns:a="http://schemas.openxmlformats.org/drawingml/2006/main"/>
        </p:blipFill>
        <p:spPr>
          <a:xfrm xmlns:a="http://schemas.openxmlformats.org/drawingml/2006/main">
            <a:off x="561975" y="1439466"/>
            <a:ext cx="7372350" cy="460771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3175E-9F59-46F5-BA2B-D666888E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04950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企业准入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9156B-6BA0-4622-BD4E-3C698713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71675"/>
            <a:ext cx="3314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提交企业资料与资质附件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审核通过、拒绝或要求补充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企业状态与条款共同约束访问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581B06-C2D5-4E51-BBCB-498C6652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52775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成员与采购范围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07B866-4212-4444-A30C-B28AEDB0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19500"/>
            <a:ext cx="3314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按当前成员身份和角色授权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目录、价目表及商品访问隔离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停用或撤权后重新核验权限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F79A81-7DAF-426E-9625-AB37916B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800600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批量采购入口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101861-F83B-49B8-80A4-004A0FD4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267325"/>
            <a:ext cx="3314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SKU 文本录入与 CSV 导入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逐行检查数量、授权和库存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校验成功后生成询价草稿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41D201-5855-45D3-A1FE-7F9C1C70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213109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F8A5EF-DADE-4B3C-9F4A-2F683993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询价、报价与采购订单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590550" y="1504950"/>
          <a:ext xmlns:a="http://schemas.openxmlformats.org/drawingml/2006/main" cx="11029950" cy="4343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33600"/>
                <a:gridCol w="5286375"/>
                <a:gridCol w="3609975"/>
              </a:tblGrid>
              <a:tr h="86868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业务环节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关键输入与规则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形成的记录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询价 RFQ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批量 SKU、数量、需求说明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逐行校验和提交状态限制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询价明细、提交时间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企业及提交成员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版本报价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单价、税运、有效期与交付条款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确认时核对最新有效版本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报价版本与有效期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商品、价格及条款快照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创建采购单 PO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客户采购单号、收货和账单地址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校验库存，重复转单保持幂等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关联原询价与报价版本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采购单号、地址与金额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付款与履约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收款确认、分批发货及售后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限制状态、数量和退款金额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付款、运单和售后历史</a:t>
                      </a:r>
                    </a:p>
                    <a:p>
                      <a:r>
                        <a:rPr sz="187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报价、确认单及发票 PDF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BB2AE0-D4E0-4EAA-96B5-D735469F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复购使用当前价格重新计算，保留旧采购单的历史记录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E47DB-FDC8-414A-98F7-F5ED3F64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01661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910472-BD37-45BE-9EA0-A74771D5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CMS 内容发布与运营管理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1228a76c4645a1"/>
          <a:stretch xmlns:a="http://schemas.openxmlformats.org/drawingml/2006/main"/>
        </p:blipFill>
        <p:spPr>
          <a:xfrm xmlns:a="http://schemas.openxmlformats.org/drawingml/2006/main">
            <a:off x="542925" y="1438275"/>
            <a:ext cx="7391400" cy="46196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5D8FB3-4739-4840-9BF5-4775E4FC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04950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编辑与多语言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08C08F-6AF3-41DD-BD27-49899529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71675"/>
            <a:ext cx="3314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可视化内容块与富文本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页面、文章、FAQ 及产品关联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分别维护语言和市场内容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E1C060-6038-4A65-A8CF-B60842D4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52775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发布与历史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4333C4-326E-4C47-98AC-B4C1E543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19500"/>
            <a:ext cx="3314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状态、上线和下线时间校验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保存时核对修订，避免覆盖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旧版恢复为草稿，再决定发布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8E3F9-2D27-45E8-AD9E-D634A562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800600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运营业务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486E8-BD9F-45D2-A71E-EC520AEB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267325"/>
            <a:ext cx="3314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工单分配、优先级和状态流转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区分内部备注与对外回复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通知记录和业务报表查询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DD02B-03CF-4E05-B1BE-6361BEB0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91656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3D5C85-2307-4736-BAD0-E7EC3904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权限、媒体与搜索管理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89a056e624952"/>
          <a:stretch xmlns:a="http://schemas.openxmlformats.org/drawingml/2006/main"/>
        </p:blipFill>
        <p:spPr>
          <a:xfrm xmlns:a="http://schemas.openxmlformats.org/drawingml/2006/main">
            <a:off x="583882" y="1466850"/>
            <a:ext cx="6842760" cy="42767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3B1667-5EF3-469F-9F21-95910B32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457325"/>
            <a:ext cx="3762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身份与动作权限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538828-9B91-46E9-ACDB-480ED039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24050"/>
            <a:ext cx="3762375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员工登录及敏感操作使用 MFA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实时核验角色与企业状态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私有资料归属校验及操作审计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9B150A-34BC-4EAD-BEA6-C7909237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05150"/>
            <a:ext cx="3762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媒体与私有下载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54039E-1401-4325-92E4-455DA1FB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71875"/>
            <a:ext cx="3762375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图片、视频和 PDF 上传校验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文件扫描、可见范围及版本管理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限时授权下载，保护资源引用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E147B-18BF-4F34-9175-47C994CA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52975"/>
            <a:ext cx="3762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搜索与内容检查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5A62CA-7963-4C8C-AB51-FFD13D80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219700"/>
            <a:ext cx="3762375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SEO 元信息、多语言与 sitemap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检查图片替代文本和内容缺项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管理重定向并记录近期 404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20248-3516-4944-945F-D1730418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838116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A8A2D-9CEB-44E7-B424-EDE0D011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整合版本与自动化验证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A6E4A5-DFDA-491B-9831-C46D7FED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362075"/>
            <a:ext cx="31718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45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45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110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A00134-4B5D-4641-B155-B1765698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562225"/>
            <a:ext cx="3171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单元测试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3C9478-AA87-4FC3-B80E-B6A20C2F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62075"/>
            <a:ext cx="31718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45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45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169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67974C-B001-4FBB-BBAA-3DE59BE6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62225"/>
            <a:ext cx="3171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数据库、Redis 与邮件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82C968-CAFD-4D9C-9B4B-813BD49D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62075"/>
            <a:ext cx="31718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45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45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69201-261F-49B0-B350-46705651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62225"/>
            <a:ext cx="3171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浏览器与性能验收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590550" y="3429000"/>
          <a:ext xmlns:a="http://schemas.openxmlformats.org/drawingml/2006/main" cx="1102995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57450"/>
                <a:gridCol w="8572500"/>
              </a:tblGrid>
              <a:tr h="4953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检查内容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已归档结果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整合一致性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包含更新后的 main，核对整合检出与提交代码树一致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三浏览器验收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Chromium、Firefox、WebKit 各 23 个业务场景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质量与安全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类型、lint、生产依赖审计、鉴权及自动无障碍检查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生产与恢复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生产构建、29 次迁移、镜像启动、扫描与恢复演练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D9F044-C1C6-4ECB-81C3-3D9295EA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用例明细以 CI #54 为依据，后续文档提交 CI #55 也已通过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8D1B94-AB19-4926-ABC9-241050F5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53862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B064E0-7B4C-4B8F-973C-07DAAB1AD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页面性能、负载与恢复验证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139BAB-CE58-41D5-949D-C683E4A7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页面性能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590550" y="2009775"/>
          <a:ext xmlns:a="http://schemas.openxmlformats.org/drawingml/2006/main" cx="5229225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09800"/>
                <a:gridCol w="1971675"/>
                <a:gridCol w="1047750"/>
              </a:tblGrid>
              <a:tr h="571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页面模板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LCP 中位数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CLS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1567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商品列表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2350 ms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商品详情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2419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文章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2260 ms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9918CB-10A9-4F39-828B-F3D2607F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200650"/>
            <a:ext cx="5353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CI #51：移动模拟，每模板 3 次采样</a:t>
            </a:r>
          </a:p>
          <a:p xmlns:a="http://schemas.openxmlformats.org/drawingml/2006/main">
            <a:pPr>
              <a:defRPr sz="1725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四类页面 LCP 均低于本轮 2500 ms 门槛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D02394-4447-4970-A73E-7FE68287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381125"/>
            <a:ext cx="5219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本机 100 虚拟用户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429375" y="2009775"/>
          <a:ext xmlns:a="http://schemas.openxmlformats.org/drawingml/2006/main" cx="5200650" cy="1714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1085850"/>
                <a:gridCol w="1638300"/>
              </a:tblGrid>
              <a:tr h="5715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访问场景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请求数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P95</a:t>
                      </a:r>
                    </a:p>
                  </a:txBody>
                  <a:tcPr marL="91440" marR="91440" marT="45720" marB="45720">
                    <a:solidFill>
                      <a:srgbClr val="18283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公开浏览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118.67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90:10 混合访问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6000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8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110.21 ms</a:t>
                      </a:r>
                    </a:p>
                  </a:txBody>
                  <a:tcPr marL="91440" marR="91440" marT="45720" marB="45720">
                    <a:solidFill>
                      <a:srgbClr val="EEF1F1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008A83-9CB2-4B4B-B6BB-A745A637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62400"/>
            <a:ext cx="516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每用户每秒一次，两轮错误率均为 0%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混合访问包含 10 个预登录会话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0853B9-BB89-4B39-9828-0A1ECE94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953000"/>
            <a:ext cx="516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恢复演练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7657DB-9D73-4521-8C54-C01A2DE3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457825"/>
            <a:ext cx="52197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数据库及媒体恢复、WAL 时间点恢复</a:t>
            </a:r>
          </a:p>
          <a:p xmlns:a="http://schemas.openxmlformats.org/drawingml/2006/main">
            <a:pPr>
              <a:def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在 CI 环境完成，不代表生产可用率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FFA3FD-0EEA-43F6-B1A6-9E93D7E5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744847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A1D078-91C7-4757-8D08-0BE3FDCB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项目成果与后续工作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263824-829F-4C06-9EA6-96CB9B3D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38275"/>
            <a:ext cx="68675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已实现的项目成果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73C8A0-18F9-41FD-9805-F0C54CD2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9800"/>
            <a:ext cx="67913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业务功能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12B5F8-A4EF-4829-9AF4-ECC3E3F4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76525"/>
            <a:ext cx="67913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公开网站、消费者购买、企业采购和运营后台</a:t>
            </a:r>
          </a:p>
          <a:p xmlns:a="http://schemas.openxmlformats.org/drawingml/2006/main">
            <a:pPr>
              <a:defRPr sz="202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商品、交易、内容和权限在同一项目中协同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3735B4-1956-4CCF-8268-7B85B522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05250"/>
            <a:ext cx="67913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数据与过程记录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EFB724-1003-451D-AAAC-31CEFAE1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71975"/>
            <a:ext cx="67913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订单和报价保存快照，履约及售后保留历史</a:t>
            </a:r>
          </a:p>
          <a:p xmlns:a="http://schemas.openxmlformats.org/drawingml/2006/main">
            <a:pPr>
              <a:defRPr sz="202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私有资料按业务归属授权，关键操作可审计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CC8146-D2BA-4FE3-BE1D-40693620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2927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A2C24"/>
                </a:solidFill>
                <a:latin typeface="Microsoft YaHei"/>
                <a:ea typeface="Microsoft YaHei"/>
                <a:cs typeface="Microsoft YaHei"/>
              </a:rPr>
              <a:t>验证依据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0A52F4-20B3-4DF3-A581-EDE15E75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657850"/>
            <a:ext cx="899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整合测试、浏览器验收与恢复演练已有归档证据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6502EB-274C-481D-ABDA-8EBBA317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382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正式上线前的工作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F2AA1C-F394-42A8-9238-B0EAE35C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76475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真实支付、银行、税务与物流接口联调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正式域名、邮件、CDN 和授权商品素材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832"/>
                </a:solidFill>
                <a:latin typeface="Microsoft YaHei"/>
                <a:ea typeface="Microsoft YaHei"/>
                <a:cs typeface="Microsoft YaHei"/>
              </a:rPr>
              <a:t>真实设备、人工无障碍和长期运行指标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602D0-0F65-45F0-B7BA-A081088F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079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644306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2026-09-08T05:33:02.8750000Z</dcterms:created>
  <dcterms:modified xsi:type="dcterms:W3CDTF">2026-09-08T05:33:02.8760000Z</dcterms:modified>
</coreProperties>
</file>