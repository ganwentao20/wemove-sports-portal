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74743951cb470f" /><Relationship Type="http://schemas.openxmlformats.org/officeDocument/2006/relationships/extended-properties" Target="/docProps/app.xml" Id="R5dcb74eb92ce4537" /><Relationship Type="http://schemas.openxmlformats.org/officeDocument/2006/relationships/officeDocument" Target="/ppt/presentation.xml" Id="R98edcc4e9b66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8ae3e7dce45e4"/>
  </p:sldMasterIdLst>
  <p:notesMasterIdLst>
    <p:notesMasterId xmlns:r="http://schemas.openxmlformats.org/officeDocument/2006/relationships" r:id="R48e9c8ebbb284ff5"/>
  </p:notesMasterIdLst>
  <p:sldIdLst>
    <p:sldId xmlns:r="http://schemas.openxmlformats.org/officeDocument/2006/relationships" id="256" r:id="Reb14e03b40af4d25"/>
    <p:sldId xmlns:r="http://schemas.openxmlformats.org/officeDocument/2006/relationships" id="257" r:id="R3bea106e5f2f4413"/>
    <p:sldId xmlns:r="http://schemas.openxmlformats.org/officeDocument/2006/relationships" id="258" r:id="Rc84a4038fc61482e"/>
    <p:sldId xmlns:r="http://schemas.openxmlformats.org/officeDocument/2006/relationships" id="259" r:id="Rc273e6a607fd484d"/>
    <p:sldId xmlns:r="http://schemas.openxmlformats.org/officeDocument/2006/relationships" id="260" r:id="Ra11d82b5a68e4ab9"/>
    <p:sldId xmlns:r="http://schemas.openxmlformats.org/officeDocument/2006/relationships" id="261" r:id="Rb8b6e450c2314405"/>
    <p:sldId xmlns:r="http://schemas.openxmlformats.org/officeDocument/2006/relationships" id="262" r:id="Rc326c7132bca4464"/>
    <p:sldId xmlns:r="http://schemas.openxmlformats.org/officeDocument/2006/relationships" id="263" r:id="R3c680b7af2f042a7"/>
    <p:sldId xmlns:r="http://schemas.openxmlformats.org/officeDocument/2006/relationships" id="264" r:id="Rc2141809eb56471b"/>
    <p:sldId xmlns:r="http://schemas.openxmlformats.org/officeDocument/2006/relationships" id="265" r:id="R981c5afe784e43d4"/>
    <p:sldId xmlns:r="http://schemas.openxmlformats.org/officeDocument/2006/relationships" id="266" r:id="R245668a787a24d2a"/>
    <p:sldId xmlns:r="http://schemas.openxmlformats.org/officeDocument/2006/relationships" id="267" r:id="Rcd0b7ab00a0c4603"/>
    <p:sldId xmlns:r="http://schemas.openxmlformats.org/officeDocument/2006/relationships" id="268" r:id="Rab9940c9f6354e7c"/>
    <p:sldId xmlns:r="http://schemas.openxmlformats.org/officeDocument/2006/relationships" id="269" r:id="R6be1cc8c69e04bdb"/>
    <p:sldId xmlns:r="http://schemas.openxmlformats.org/officeDocument/2006/relationships" id="270" r:id="R765d6d64389245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b504df4fdf4cd1" /><Relationship Type="http://schemas.openxmlformats.org/officeDocument/2006/relationships/slideMaster" Target="/ppt/slideMasters/slideMaster1.xml" Id="Ra138ae3e7dce45e4" /><Relationship Type="http://schemas.openxmlformats.org/officeDocument/2006/relationships/notesMaster" Target="/ppt/notesMasters/notesMaster1.xml" Id="R48e9c8ebbb284ff5" /><Relationship Type="http://schemas.openxmlformats.org/officeDocument/2006/relationships/presProps" Target="/ppt/presProps.xml" Id="R2e7376b698a448bf" /><Relationship Type="http://schemas.openxmlformats.org/officeDocument/2006/relationships/tableStyles" Target="/ppt/tableStyles.xml" Id="R2907b8b2828a42fa" /><Relationship Type="http://schemas.openxmlformats.org/officeDocument/2006/relationships/slide" Target="/ppt/slides/slide1.xml" Id="Reb14e03b40af4d25" /><Relationship Type="http://schemas.openxmlformats.org/officeDocument/2006/relationships/slide" Target="/ppt/slides/slide2.xml" Id="R3bea106e5f2f4413" /><Relationship Type="http://schemas.openxmlformats.org/officeDocument/2006/relationships/slide" Target="/ppt/slides/slide3.xml" Id="Rc84a4038fc61482e" /><Relationship Type="http://schemas.openxmlformats.org/officeDocument/2006/relationships/slide" Target="/ppt/slides/slide4.xml" Id="Rc273e6a607fd484d" /><Relationship Type="http://schemas.openxmlformats.org/officeDocument/2006/relationships/slide" Target="/ppt/slides/slide5.xml" Id="Ra11d82b5a68e4ab9" /><Relationship Type="http://schemas.openxmlformats.org/officeDocument/2006/relationships/slide" Target="/ppt/slides/slide6.xml" Id="Rb8b6e450c2314405" /><Relationship Type="http://schemas.openxmlformats.org/officeDocument/2006/relationships/slide" Target="/ppt/slides/slide7.xml" Id="Rc326c7132bca4464" /><Relationship Type="http://schemas.openxmlformats.org/officeDocument/2006/relationships/slide" Target="/ppt/slides/slide8.xml" Id="R3c680b7af2f042a7" /><Relationship Type="http://schemas.openxmlformats.org/officeDocument/2006/relationships/slide" Target="/ppt/slides/slide9.xml" Id="Rc2141809eb56471b" /><Relationship Type="http://schemas.openxmlformats.org/officeDocument/2006/relationships/slide" Target="/ppt/slides/slide10.xml" Id="R981c5afe784e43d4" /><Relationship Type="http://schemas.openxmlformats.org/officeDocument/2006/relationships/slide" Target="/ppt/slides/slide11.xml" Id="R245668a787a24d2a" /><Relationship Type="http://schemas.openxmlformats.org/officeDocument/2006/relationships/slide" Target="/ppt/slides/slide12.xml" Id="Rcd0b7ab00a0c4603" /><Relationship Type="http://schemas.openxmlformats.org/officeDocument/2006/relationships/slide" Target="/ppt/slides/slide13.xml" Id="Rab9940c9f6354e7c" /><Relationship Type="http://schemas.openxmlformats.org/officeDocument/2006/relationships/slide" Target="/ppt/slides/slide14.xml" Id="R6be1cc8c69e04bdb" /><Relationship Type="http://schemas.openxmlformats.org/officeDocument/2006/relationships/slide" Target="/ppt/slides/slide15.xml" Id="R765d6d643892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a67b25237e4b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ccac6e44334b06" /><Relationship Type="http://schemas.openxmlformats.org/officeDocument/2006/relationships/notesMaster" Target="/ppt/notesMasters/notesMaster1.xml" Id="R451160b1ca764e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aec1340f0e4333" /><Relationship Type="http://schemas.openxmlformats.org/officeDocument/2006/relationships/notesMaster" Target="/ppt/notesMasters/notesMaster1.xml" Id="R5f459f362a3148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d803bed8fe460a" /><Relationship Type="http://schemas.openxmlformats.org/officeDocument/2006/relationships/notesMaster" Target="/ppt/notesMasters/notesMaster1.xml" Id="Rbccab3078c5842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59e86483c74bb6" /><Relationship Type="http://schemas.openxmlformats.org/officeDocument/2006/relationships/notesMaster" Target="/ppt/notesMasters/notesMaster1.xml" Id="Rf6774fbee0a54c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44a9fdf33745fb" /><Relationship Type="http://schemas.openxmlformats.org/officeDocument/2006/relationships/notesMaster" Target="/ppt/notesMasters/notesMaster1.xml" Id="R343a5e70130d49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69a068e6094ee7" /><Relationship Type="http://schemas.openxmlformats.org/officeDocument/2006/relationships/notesMaster" Target="/ppt/notesMasters/notesMaster1.xml" Id="R8fcafda8123d41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d01efa92ee44cc" /><Relationship Type="http://schemas.openxmlformats.org/officeDocument/2006/relationships/notesMaster" Target="/ppt/notesMasters/notesMaster1.xml" Id="Rf614f0f1b17f48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3cf870ae0c4c6f" /><Relationship Type="http://schemas.openxmlformats.org/officeDocument/2006/relationships/notesMaster" Target="/ppt/notesMasters/notesMaster1.xml" Id="Re5ecaaa0cbea4a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54a986d9f34bc4" /><Relationship Type="http://schemas.openxmlformats.org/officeDocument/2006/relationships/notesMaster" Target="/ppt/notesMasters/notesMaster1.xml" Id="R652a388517a145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b97f3e72194c52" /><Relationship Type="http://schemas.openxmlformats.org/officeDocument/2006/relationships/notesMaster" Target="/ppt/notesMasters/notesMaster1.xml" Id="R2c9d005d1c754b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8f4e20a2b0474f" /><Relationship Type="http://schemas.openxmlformats.org/officeDocument/2006/relationships/notesMaster" Target="/ppt/notesMasters/notesMaster1.xml" Id="R0ee3046327fa4a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4c9e361d104ee9" /><Relationship Type="http://schemas.openxmlformats.org/officeDocument/2006/relationships/notesMaster" Target="/ppt/notesMasters/notesMaster1.xml" Id="Rdd6535f466db4d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e49275261640fb" /><Relationship Type="http://schemas.openxmlformats.org/officeDocument/2006/relationships/notesMaster" Target="/ppt/notesMasters/notesMaster1.xml" Id="R65bc1edf7c3742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408388a4d44388" /><Relationship Type="http://schemas.openxmlformats.org/officeDocument/2006/relationships/notesMaster" Target="/ppt/notesMasters/notesMaster1.xml" Id="R55cd42d75a9c4a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1e7cd866de4776" /><Relationship Type="http://schemas.openxmlformats.org/officeDocument/2006/relationships/notesMaster" Target="/ppt/notesMasters/notesMaster1.xml" Id="Rcc0157e3f49147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来源：apps/web/public/images/wemove-active-play-hero.png，项目内产品场景插画，不作为实拍商品照片。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来源：docs/requirements.md v0.5，docs/operation-manual.md。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来源：docs/plans/workload-current.md。25% + 18.75% × 4 = 100%，为组长确认的课程提交工作量占比。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来源：apps/web/package.json、apps/api/package.json、infra/docker-compose.yml、docs/api/data-dictionary-review-20260908.md、.github/workflows/ci.yml。版本为当前仓库配置。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来源：docs/assets/operation-manual/figure-1.png，为2026-09-08实际本机首页截图；docs/requirements.md。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来源：docs/assets/operation-manual/figure-5.png，为实际后台商品页截图；apps/api/src/catalog、pricing、order；docs/requirements.md。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来源：docs/assets/operation-manual/figure-3.png，为实际结算页截图；docs/test-report.md 第3节与零售集成测试。DEMO支付不产生真实扣款。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来源：docs/test-report.md 第3节，apps/api/src/order/commerce.service.ts:476、595、761、1204、1341及对应集成测试。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来源：docs/assets/operation-manual/figure-4.png，为2026-09-08实际后台企业申请审核页，图中为测试申请；dealer-lifecycle和B2B集成测试。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来源：B2B服务及 b2b-flow / b2b-after-sales 集成测试，docs/requirements.md。银行转账在课程环境为人工登记，真实到账需银行接口联调。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来源：docs/assets/operation-manual/figure-6.png，为实际 CMS 截图；content-navigation、platform集成测试及CMS实现。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来源：docs/assets/operation-manual/figure-7.png，为实际SEO后台截图；auth/identity/media-lifecycle集成测试与docs/test-report.md。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来源：CI54 https://github.com/ganwentao20/wemove-sports-portal/actions/runs/34159152642 ，源码f3c074f，包含main5642da2，检出d79a2eb，mainIncluded/sourceAndCheckoutTreesMatch均为true。CI55对5ffaba8文档提交也已通过：https://github.com/ganwentao20/wemove-sports-portal/actions/runs/34187607999 。用例数量来自CI54归档，非需求覆盖率。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来源：docs/test-report.md 第4、5节，docs/evidence/report-20260908/ci51-lighthouse-summary.json、load-public.json、load-mixed.json。LCP为CI51移动模拟，每模板3次中位数；本机100虚拟用户每秒各1请求、60轮，混合场景使用同一测试账号的10个独立预登录会话。恢复验证依据CI54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来源：docs/requirements.md、docs/delivery-readiness.md、docs/test-report.md。成果对应现有功能和自动化验证，正式生产接入与长期指标需真实条件。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9726cc7d1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9ec85a9a044ce" /><Relationship Type="http://schemas.openxmlformats.org/officeDocument/2006/relationships/slideLayout" Target="/ppt/slideLayouts/slideLayout1.xml" Id="Rc8894353dbcf4d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894353dbcf4d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2f8d74ce74e4e" /><Relationship Type="http://schemas.openxmlformats.org/officeDocument/2006/relationships/image" Target="/ppt/media/image.png" Id="Ra88ab8bbe23044ae" /><Relationship Type="http://schemas.openxmlformats.org/officeDocument/2006/relationships/notesSlide" Target="/ppt/notesSlides/notesSlide1.xml" Id="R611813fc71e64e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23d8d51b24e07" /><Relationship Type="http://schemas.openxmlformats.org/officeDocument/2006/relationships/notesSlide" Target="/ppt/notesSlides/notesSlide2.xml" Id="Raff629d943d242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5317d031e49f5" /><Relationship Type="http://schemas.openxmlformats.org/officeDocument/2006/relationships/notesSlide" Target="/ppt/notesSlides/notesSlide3.xml" Id="R383715d462424b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6378f68324d39" /><Relationship Type="http://schemas.openxmlformats.org/officeDocument/2006/relationships/notesSlide" Target="/ppt/notesSlides/notesSlide4.xml" Id="R47eef9b87e7b43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33051c57c4cf3" /><Relationship Type="http://schemas.openxmlformats.org/officeDocument/2006/relationships/image" Target="/ppt/media/image2.png" Id="R2c3eeec9cdcf4e24" /><Relationship Type="http://schemas.openxmlformats.org/officeDocument/2006/relationships/notesSlide" Target="/ppt/notesSlides/notesSlide5.xml" Id="R6a24a6b361f648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7d01637e0418f" /><Relationship Type="http://schemas.openxmlformats.org/officeDocument/2006/relationships/image" Target="/ppt/media/image3.png" Id="Rb004508783d54b64" /><Relationship Type="http://schemas.openxmlformats.org/officeDocument/2006/relationships/notesSlide" Target="/ppt/notesSlides/notesSlide6.xml" Id="R8910989c78e34c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561ab4eba48df" /><Relationship Type="http://schemas.openxmlformats.org/officeDocument/2006/relationships/image" Target="/ppt/media/image4.png" Id="R6a735ce3f2a74ae7" /><Relationship Type="http://schemas.openxmlformats.org/officeDocument/2006/relationships/notesSlide" Target="/ppt/notesSlides/notesSlide7.xml" Id="Rfc7b127239db43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701118ea74429" /><Relationship Type="http://schemas.openxmlformats.org/officeDocument/2006/relationships/notesSlide" Target="/ppt/notesSlides/notesSlide8.xml" Id="R4ae7e503a9a847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11d019a654c5a" /><Relationship Type="http://schemas.openxmlformats.org/officeDocument/2006/relationships/image" Target="/ppt/media/image5.png" Id="R12eff1c1f040483a" /><Relationship Type="http://schemas.openxmlformats.org/officeDocument/2006/relationships/notesSlide" Target="/ppt/notesSlides/notesSlide9.xml" Id="Rb165614085c24e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f3edf951f4b7f" /><Relationship Type="http://schemas.openxmlformats.org/officeDocument/2006/relationships/notesSlide" Target="/ppt/notesSlides/notesSlide10.xml" Id="R5e541709f9b64d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15d93a2ec486d" /><Relationship Type="http://schemas.openxmlformats.org/officeDocument/2006/relationships/image" Target="/ppt/media/image6.png" Id="R9abd3855e22746dc" /><Relationship Type="http://schemas.openxmlformats.org/officeDocument/2006/relationships/notesSlide" Target="/ppt/notesSlides/notesSlide11.xml" Id="R654f0e18150645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dc249297341aa" /><Relationship Type="http://schemas.openxmlformats.org/officeDocument/2006/relationships/image" Target="/ppt/media/image7.png" Id="Rd2863e0455144e80" /><Relationship Type="http://schemas.openxmlformats.org/officeDocument/2006/relationships/notesSlide" Target="/ppt/notesSlides/notesSlide12.xml" Id="R398ff9ce341f4e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47786fa3c470d" /><Relationship Type="http://schemas.openxmlformats.org/officeDocument/2006/relationships/notesSlide" Target="/ppt/notesSlides/notesSlide13.xml" Id="Ra481aab5bc1440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2118d41e546c4" /><Relationship Type="http://schemas.openxmlformats.org/officeDocument/2006/relationships/notesSlide" Target="/ppt/notesSlides/notesSlide14.xml" Id="Re6dc25e447b14a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d7d9ae09640ed" /><Relationship Type="http://schemas.openxmlformats.org/officeDocument/2006/relationships/notesSlide" Target="/ppt/notesSlides/notesSlide15.xml" Id="R9e4fd0e59c7b4f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ab8bbe23044ae"/>
          <a:srcRect xmlns:a="http://schemas.openxmlformats.org/drawingml/2006/main" l="19630" t="0" r="196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0"/>
            <a:ext cx="6248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7CFDD-F24C-45CE-AA66-E38FDA13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5619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C3013-3332-4398-8E43-3F1DE25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5238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9DF85-560C-4339-9A6C-9B40D9A9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43275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2F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2F5F6"/>
                </a:solidFill>
                <a:latin typeface="Microsoft YaHei"/>
                <a:ea typeface="Microsoft YaHei"/>
                <a:cs typeface="Microsoft YaHei"/>
              </a:rPr>
              <a:t>运动产品门户网站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4B38A-7A47-4EC5-BC2B-788F4B7D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33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rPr>
              <a:t>软件开发实践 2 项目汇报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1445E-4212-4DD2-94D8-CA01986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482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rPr>
              <a:t>下午班第 8 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E1518-28EC-4928-A34A-4519ED34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62625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rPr>
              <a:t>甘文韬  陈婧琳  周慧莹</a:t>
            </a:r>
          </a:p>
          <a:p xmlns:a="http://schemas.openxmlformats.org/drawingml/2006/main">
            <a:pPr>
              <a:def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rPr>
              <a:t>倪依玲  龙祖怡</a:t>
            </a:r>
          </a:p>
        </p:txBody>
      </p:sp>
    </p:spTree>
    <p:extLst>
      <p:ext uri="{BB962C8B-B14F-4D97-AF65-F5344CB8AC3E}">
        <p14:creationId xmlns:p14="http://schemas.microsoft.com/office/powerpoint/2010/main" val="545051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A725C-BA2F-49B2-85CE-7E247A55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项目定位与功能范围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F2B80-E070-4762-B3E3-9064C2A3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面向运动产品展示、个人购买和企业采购的统一网站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9CED4-29DE-4DFA-A815-E9E94BAF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公众访客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11D88-0E38-46B0-AFA8-86C9E10F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浏览品牌、商品、文章与玩法指南</a:t>
            </a:r>
          </a:p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按分类和市场查找产品及支持资料</a:t>
            </a:r>
          </a:p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通过联系表单提交咨询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660FF-6AFB-4EE0-9CCA-2FB03DD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33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消费者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097C8-6F1D-4D6C-9586-27F40BCA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注册、邮箱验证与收货地址管理</a:t>
            </a:r>
          </a:p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购物车结算、付款和订单查询</a:t>
            </a:r>
          </a:p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查看物流、下载凭证及申请售后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FAECD-7609-477D-A817-95F045CC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企业采购员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36E6A-052F-4704-9E4A-1EA6EDC7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企业准入、授权目录和专属价格</a:t>
            </a:r>
          </a:p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SKU 批量录入、询价和报价确认</a:t>
            </a:r>
          </a:p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采购单、收款、分批履约与复购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684AD-4098-49F8-9F80-2CF24C19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338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运营人员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4DB00-D1B4-4A1F-B602-1A311F25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维护商品、价格、库存和页面内容</a:t>
            </a:r>
          </a:p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管理媒体、客服工单及企业申请</a:t>
            </a:r>
          </a:p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按岗位权限操作并保留审计记录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5C261-82F8-427B-9658-0140F8FC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0127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38EA7-E990-45B7-B998-B3C7845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成员分工与工作量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766762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职责范围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工作量占比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甘文韬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架构、安全与项目整合，兼任 B2B 采购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陈婧琳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官网、响应式页面与消费者中心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周慧莹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商品、库存、定价与零售订单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倪依玲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运营后台、CMS、媒体与联系工单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龙祖怡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工程化、自动化测试与性能报告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五人团队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E12F3-6492-4DB4-AF38-6C2176F9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工作量占比按组长确认的分配填写，合计 100%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92A1E-5AED-48D3-B71A-2B0CE8B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1889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FED87-F6C4-4F15-9F83-E3062A5C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系统架构与技术实现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90550" y="1447800"/>
          <a:ext xmlns:a="http://schemas.openxmlformats.org/drawingml/2006/main" cx="110299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381375"/>
                <a:gridCol w="5981700"/>
              </a:tblGrid>
              <a:tr h="781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主要技术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承担职责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页面与交互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Next.js 16、React 19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TypeScript、Tailwind CSS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官网、消费者、企业和后台四组页面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共享组件、响应式布局与多语言展示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业务接口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NestJS 12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REST API /api/v1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身份、目录、定价、订单、采购和内容模块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输入校验、权限检查与业务状态处理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数据存储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Prisma 6、PostgreSQL 16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Redis 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关系数据、交易快照和业务事务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会话、缓存与请求频率控制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运行与验证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Docker、Mailpit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Actions、Playwright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可重复的构建与部署环境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邮件集成、浏览器验收及恢复演练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37021-CB73-4F9D-BA03-776CA4A2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695950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数据字典：61 个业务模型、768 个字段、15 个枚举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44E40-9C59-4F20-B180-06A8FFF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752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9E66C-AC04-445E-9CFE-F36030B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官网、内容与商品发现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eeec9cdcf4e24"/>
          <a:stretch xmlns:a="http://schemas.openxmlformats.org/drawingml/2006/main"/>
        </p:blipFill>
        <p:spPr>
          <a:xfrm xmlns:a="http://schemas.openxmlformats.org/drawingml/2006/main">
            <a:off x="514350" y="1438870"/>
            <a:ext cx="7419975" cy="463748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7F4C0-051C-41A6-8C2B-D00933C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公开内容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DBCC-71C8-4F2B-9414-5487D1B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4310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多语言和市场切换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首页模块、文章与玩法指南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内容由 CMS 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9022A-FF2E-4FAE-BB14-40FF7196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商品发现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9C6F4-8690-4237-8DA5-02BFACC0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分类、搜索、筛选与排序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商品对比、收藏及规格详情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按市场显示可购信息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62E7-3A3B-466F-A2B8-81915C4C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3392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页面体验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212E2-604D-4DB2-9E48-A0CC98A7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0065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移动端布局与键盘访问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FAQ、资料下载与联系入口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动效适配减少动态效果偏好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5BF55-F9ED-4CE9-A100-CFDF6BCE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0019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9AD07-1598-4B5D-988F-5900170F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商品、价格与库存管理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4508783d54b64"/>
          <a:stretch xmlns:a="http://schemas.openxmlformats.org/drawingml/2006/main"/>
        </p:blipFill>
        <p:spPr>
          <a:xfrm xmlns:a="http://schemas.openxmlformats.org/drawingml/2006/main">
            <a:off x="533400" y="1487686"/>
            <a:ext cx="7400925" cy="462557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33E19-A9BB-4CD9-BCBC-3C8DC082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商品与 SKU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467D8-C337-4D20-8839-BE3C6185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9072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管理上下架、分类和规格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维护产品说明与适用信息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 SKU 定价和记录库存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A0FF3-2CF8-47C0-A62A-95DD1A6E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市场与企业价格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BCEB5-CBF5-492C-B1B8-47E9F25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区分零售价和企业采购价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按市场、价目表匹配规则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当前身份决定价格可见范围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DFC37-12A1-4C65-98D4-8B77E086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815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交易库存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CA413-1418-4AF3-8583-D9A1A063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4827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区分可用量与预留量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创建订单时检查库存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取消、履约按状态处理数量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524C7-1FC7-45AE-ADF6-5CF14A65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5801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EE588-66D3-4134-958E-7A107D7A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消费者购买与订单服务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A00B3-2275-49D4-B163-54629C0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账户与购物车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2C6CB-D595-4AD6-B810-D088E19A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38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注册、验证与找回密码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地址、收藏和个人资料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游客购物车登录后合并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26123-4E23-44D6-A38A-6A020C79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结算与付款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DAC43-1C3B-4D1C-A8EA-C0EBEB3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338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重新核对价格、库存和税运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保存收货地址及商品快照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演示支付与付款状态查询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A9435-8F50-4298-A998-C825A8A5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订单与售后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6391D-A6BB-4FA7-9CBC-CBC098C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338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订单列表、物流和 PDF 凭证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退货、换货及退款记录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售后附件按订单归属授权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35ce3f2a74ae7"/>
          <a:stretch xmlns:a="http://schemas.openxmlformats.org/drawingml/2006/main"/>
        </p:blipFill>
        <p:spPr>
          <a:xfrm xmlns:a="http://schemas.openxmlformats.org/drawingml/2006/main">
            <a:off x="4267200" y="1506141"/>
            <a:ext cx="7372350" cy="460771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6167E-4750-42DD-BAD6-C21B6AE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4768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87848-D4CE-49D7-A6C5-6DFA58B1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订单一致性与异常处理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90550" y="1457325"/>
          <a:ext xmlns:a="http://schemas.openxmlformats.org/drawingml/2006/main" cx="1102995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905375"/>
                <a:gridCol w="3838575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业务场景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服务端处理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用户可见结果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价格或库存变化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结算重新核对当前价格和可用库存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保存确认时的商品、金额和地址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按当前价格形成订单金额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库存不足返回明确原因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重复点击或回调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校验身份、币种、金额与当前状态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用幂等和事务约束重复处理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避免重复建单、重复付款入账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以及重复扣减库存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取消后付款成功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识别库存释放后的迟到支付回调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创建补偿退款并保持原幂等身份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已取消订单不继续发货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退款过程有记录并可重试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退货与退款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检查已发货量、收货状态和可退金额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记录退款原因及关联申请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保留物流、售后和退款历史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限制超数量或超金额操作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访问私有资料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校验订单、企业或售后申请归属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私有资源在授权后提供下载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越权请求拒绝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本人可查看凭证及售后附件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5E086-AFA7-407F-B685-1EC00637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测试同时覆盖成功路径、重复请求和越权访问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C896A-2569-4AE5-A25A-343AFF1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573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D770C-C8DA-4403-B236-C5EAB017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企业准入与采购权限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ff1c1f040483a"/>
          <a:stretch xmlns:a="http://schemas.openxmlformats.org/drawingml/2006/main"/>
        </p:blipFill>
        <p:spPr>
          <a:xfrm xmlns:a="http://schemas.openxmlformats.org/drawingml/2006/main">
            <a:off x="561975" y="1439466"/>
            <a:ext cx="7372350" cy="460771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FB661-BCEC-460F-8AFA-F6002F93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企业准入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151C1-F78C-4C35-BF7F-72BD2C5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7167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提交企业资料与资质附件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审核通过、拒绝或要求补充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企业状态与条款共同约束访问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91F40-CAE8-4D02-9647-95A70F1C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成员与采购范围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5D164-8311-4FFC-9720-A47B4CCD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按当前成员身份和角色授权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目录、价目表及商品访问隔离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停用或撤权后重新核验权限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6F9C9-F5B9-4233-AF5C-8C88274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批量采购入口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B41DC-9AB6-4EE0-A01B-11E2395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6732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SKU 文本录入与 CSV 导入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逐行检查数量、授权和库存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校验成功后生成询价草稿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96E4E-C581-44A7-A2E5-8F348722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2815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E463D-FA44-4A7E-B5D0-92A6C74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询价、报价与采购订单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90550" y="1504950"/>
          <a:ext xmlns:a="http://schemas.openxmlformats.org/drawingml/2006/main" cx="1102995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5286375"/>
                <a:gridCol w="3609975"/>
              </a:tblGrid>
              <a:tr h="8686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业务环节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关键输入与规则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形成的记录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询价 RFQ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 SKU、数量、需求说明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逐行校验和提交状态限制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询价明细、提交时间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企业及提交成员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版本报价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单价、税运、有效期与交付条款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确认时核对最新有效版本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报价版本与有效期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商品、价格及条款快照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创建采购单 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客户采购单号、收货和账单地址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校验库存，重复转单保持幂等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关联原询价与报价版本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采购单号、地址与金额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付款与履约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收款确认、分批发货及售后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限制状态、数量和退款金额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付款、运单和售后历史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报价、确认单及发票 PDF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4C7C7-DFF1-4366-9BD9-6C672C6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复购使用当前价格重新计算，保留旧采购单的历史记录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C5D33-9F93-46CE-8C9D-E53D4E36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255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D698B-5362-4338-BB31-EA3C027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CMS 内容发布与运营管理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d3855e22746dc"/>
          <a:stretch xmlns:a="http://schemas.openxmlformats.org/drawingml/2006/main"/>
        </p:blipFill>
        <p:spPr>
          <a:xfrm xmlns:a="http://schemas.openxmlformats.org/drawingml/2006/main">
            <a:off x="542925" y="1438275"/>
            <a:ext cx="7391400" cy="4619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B9E44-65F5-4C69-A47D-C869965B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编辑与多语言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5682B-713F-4DE9-9F20-82A5DCCE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7167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可视化内容块与富文本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页面、文章、FAQ 及产品关联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分别维护语言和市场内容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1BB57-085D-4F2D-A8FD-FB2B73DE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发布与历史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AE43F-1A0F-4E55-B553-DA522D02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状态、上线和下线时间校验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保存时核对修订，避免覆盖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旧版恢复为草稿，再决定发布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7612F-A07E-4DB6-9E14-27EC4A94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运营业务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8AAA7-9B29-4DA3-9CA0-D1498FA1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6732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工单分配、优先级和状态流转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区分内部备注与对外回复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通知记录和业务报表查询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E3599-C77B-4204-A148-FC06633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3873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CE44D-A8BE-4825-B15C-2C4EE97D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权限、媒体与搜索管理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63e0455144e80"/>
          <a:stretch xmlns:a="http://schemas.openxmlformats.org/drawingml/2006/main"/>
        </p:blipFill>
        <p:spPr>
          <a:xfrm xmlns:a="http://schemas.openxmlformats.org/drawingml/2006/main">
            <a:off x="583882" y="1466850"/>
            <a:ext cx="6842760" cy="42767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FA20B-BE1D-4552-8353-3CAC7621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57325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身份与动作权限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50F6C-BAF2-4668-8AD6-8E703687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3762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员工登录及敏感操作使用 MFA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实时核验角色与企业状态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私有资料归属校验及操作审计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2FE97-8CD0-435A-8DE7-B3637688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媒体与私有下载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9C61F-5B42-403E-8E28-FD234A6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71875"/>
            <a:ext cx="3762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图片、视频和 PDF 上传校验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文件扫描、可见范围及版本管理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限时授权下载，保护资源引用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EDC68-10E0-4584-8D05-DBE8819A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52975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搜索与内容检查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7DA4A-F414-4D9E-9D8C-918B6801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62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SEO 元信息、多语言与 sitemap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检查图片替代文本和内容缺项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管理重定向并记录近期 404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F6A04-2ABE-4D78-ACD8-071BD3E7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20008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10BAD-16FA-40F9-921D-2A5D53C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整合版本与自动化验证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A01A7-C44B-4BA1-A622-D7DDB0FA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31718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26D49-717E-46AA-AC06-16229D3D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62225"/>
            <a:ext cx="3171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91139-C15D-441D-A84F-A5CD0E7F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62075"/>
            <a:ext cx="31718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169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93B97-F85F-49DF-AF2C-D80CDF37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62225"/>
            <a:ext cx="3171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数据库、Redis 与邮件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38BAE-23E3-422D-A72B-0D32154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62075"/>
            <a:ext cx="31718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F5D67-A8C6-43BD-858F-F32DCD47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62225"/>
            <a:ext cx="3171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浏览器与性能验收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90550" y="3429000"/>
          <a:ext xmlns:a="http://schemas.openxmlformats.org/drawingml/2006/main" cx="110299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85725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已归档结果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整合一致性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包含更新后的 main，核对整合检出与提交代码树一致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三浏览器验收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Chromium、Firefox、WebKit 各 23 个业务场景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类型、lint、生产依赖审计、鉴权及自动无障碍检查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生产与恢复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生产构建、29 次迁移、镜像启动、扫描与恢复演练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62AD3-844A-4A9F-BF45-334A4FCA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用例明细以 CI #54 为依据，后续文档提交 CI #55 也已通过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F984B-0A03-4E31-B202-AE2C7318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93517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E68CA-091E-475C-A99A-6335CCB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页面性能、负载与恢复验证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B3038-DEEC-46A6-B338-03275A46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页面性能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90550" y="2009775"/>
          <a:ext xmlns:a="http://schemas.openxmlformats.org/drawingml/2006/main" cx="522922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1971675"/>
                <a:gridCol w="10477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页面模板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LCP 中位数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CLS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商品列表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2350 ms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商品详情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2419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文章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2260 ms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CA95A-CA8B-4A31-A0AB-354CD9D4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00650"/>
            <a:ext cx="535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CI #51：移动模拟，每模板 3 次采样</a:t>
            </a:r>
          </a:p>
          <a:p xmlns:a="http://schemas.openxmlformats.org/drawingml/2006/main">
            <a:pPr>
              <a:defRPr sz="172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四类页面 LCP 均低于本轮 2500 ms 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3B6AD-F9C5-47B6-976E-ED6431AB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5219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本机 100 虚拟用户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29375" y="2009775"/>
          <a:ext xmlns:a="http://schemas.openxmlformats.org/drawingml/2006/main" cx="52006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085850"/>
                <a:gridCol w="16383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访问场景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请求数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公开浏览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118.67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90:10 混合访问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6000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110.21 ms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E2DB5-1B0D-4EA6-944B-6DDD01D1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516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每用户每秒一次，两轮错误率均为 0%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混合访问包含 10 个预登录会话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E5CA2-AFE0-4698-9672-9B1F536B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53000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恢复演练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E967F-A6EE-4A65-93D2-6856A4B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57825"/>
            <a:ext cx="5219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数据库及媒体恢复、WAL 时间点恢复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在 CI 环境完成，不代表生产可用率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AFEDE-2CB4-4BD7-B2DA-3250CB84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402717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E365B-9662-4E4D-9881-0D53790B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项目成果与后续工作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DE5B1-4B44-461B-B413-84E53F6F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686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已实现的项目成果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E3793-A4F1-4EFC-BCC2-B5D913B1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791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业务功能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20151-C339-437C-8C9B-93C5D0B4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6791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公开网站、消费者购买、企业采购和运营后台</a:t>
            </a:r>
          </a:p>
          <a:p xmlns:a="http://schemas.openxmlformats.org/drawingml/2006/main">
            <a:pPr>
              <a:def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商品、交易、内容和权限在同一项目中协同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79205-7C8C-4BBE-9697-3A86ABD6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6791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数据与过程记录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9908F-F49E-4611-A149-66E472A2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6791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订单和报价保存快照，履约及售后保留历史</a:t>
            </a:r>
          </a:p>
          <a:p xmlns:a="http://schemas.openxmlformats.org/drawingml/2006/main">
            <a:pPr>
              <a:def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私有资料按业务归属授权，关键操作可审计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40876-98F7-4173-8983-5CAF1635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验证依据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B6373-7092-418D-AC96-237A90D8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57850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整合测试、浏览器验收与恢复演练已有归档证据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BCD85-79B1-4A7B-B6D2-94348CA8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4382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正式上线前的工作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76A39-988B-4ECD-BBF0-50820029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真实支付、银行、税务与物流接口联调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正式域名、邮件、CDN 和授权商品素材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真实设备、人工无障碍和长期运行指标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014B1-C45E-431C-838A-3C7937CE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9677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2026-09-08T05:50:14.0890000Z</dcterms:created>
  <dcterms:modified xsi:type="dcterms:W3CDTF">2026-09-08T05:50:14.0890000Z</dcterms:modified>
</coreProperties>
</file>